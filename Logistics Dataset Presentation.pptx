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2" r:id="rId4"/>
    <p:sldId id="258" r:id="rId5"/>
    <p:sldId id="259" r:id="rId6"/>
    <p:sldId id="260" r:id="rId7"/>
    <p:sldId id="263" r:id="rId8"/>
    <p:sldId id="264" r:id="rId9"/>
    <p:sldId id="265" r:id="rId10"/>
    <p:sldId id="266" r:id="rId11"/>
    <p:sldId id="267" r:id="rId12"/>
    <p:sldId id="26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74"/>
  </p:normalViewPr>
  <p:slideViewPr>
    <p:cSldViewPr snapToGrid="0">
      <p:cViewPr varScale="1">
        <p:scale>
          <a:sx n="88" d="100"/>
          <a:sy n="88" d="100"/>
        </p:scale>
        <p:origin x="176"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hyperlink" Target="https://www.kaggle.com/datasets/ziya07/logistics-warehouse-dataset" TargetMode="External"/></Relationships>
</file>

<file path=ppt/diagrams/_rels/data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svg"/><Relationship Id="rId1" Type="http://schemas.openxmlformats.org/officeDocument/2006/relationships/image" Target="../media/image2.svg"/></Relationships>
</file>

<file path=ppt/diagrams/_rels/data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hyperlink" Target="https://www.kaggle.com/datasets/ziya07/logistics-warehouse-dataset" TargetMode="External"/><Relationship Id="rId1" Type="http://schemas.openxmlformats.org/officeDocument/2006/relationships/image" Target="../media/image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svg"/><Relationship Id="rId1" Type="http://schemas.openxmlformats.org/officeDocument/2006/relationships/image" Target="../media/image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294008-81FE-43EE-AEA0-E86FD3E5A293}" type="doc">
      <dgm:prSet loTypeId="urn:microsoft.com/office/officeart/2018/2/layout/IconLabelList" loCatId="icon" qsTypeId="urn:microsoft.com/office/officeart/2005/8/quickstyle/simple1" qsCatId="simple" csTypeId="urn:microsoft.com/office/officeart/2005/8/colors/colorful2" csCatId="colorful" phldr="1"/>
      <dgm:spPr/>
      <dgm:t>
        <a:bodyPr/>
        <a:lstStyle/>
        <a:p>
          <a:endParaRPr lang="en-US"/>
        </a:p>
      </dgm:t>
    </dgm:pt>
    <dgm:pt modelId="{627FD28C-C4A4-4228-B961-792B9C53D101}">
      <dgm:prSet/>
      <dgm:spPr/>
      <dgm:t>
        <a:bodyPr/>
        <a:lstStyle/>
        <a:p>
          <a:pPr>
            <a:lnSpc>
              <a:spcPct val="100000"/>
            </a:lnSpc>
          </a:pPr>
          <a:r>
            <a:rPr lang="en-US" dirty="0"/>
            <a:t>This report has been prepared on the evaluation of the logistics warehouse dataset obtained from Kaggle </a:t>
          </a:r>
          <a:r>
            <a:rPr lang="en-US" dirty="0">
              <a:hlinkClick xmlns:r="http://schemas.openxmlformats.org/officeDocument/2006/relationships" r:id="rId1"/>
            </a:rPr>
            <a:t>https://</a:t>
          </a:r>
          <a:r>
            <a:rPr lang="en-US" dirty="0" err="1">
              <a:hlinkClick xmlns:r="http://schemas.openxmlformats.org/officeDocument/2006/relationships" r:id="rId1"/>
            </a:rPr>
            <a:t>www.kaggle.com</a:t>
          </a:r>
          <a:r>
            <a:rPr lang="en-US" dirty="0">
              <a:hlinkClick xmlns:r="http://schemas.openxmlformats.org/officeDocument/2006/relationships" r:id="rId1"/>
            </a:rPr>
            <a:t>/datasets/ziya07/logistics-warehouse-dataset</a:t>
          </a:r>
          <a:endParaRPr lang="en-US" dirty="0"/>
        </a:p>
      </dgm:t>
    </dgm:pt>
    <dgm:pt modelId="{B8389F50-A7B7-4687-A939-93C04556E1AB}" type="parTrans" cxnId="{890F9C35-BD61-45F9-B9ED-8989452B6A35}">
      <dgm:prSet/>
      <dgm:spPr/>
      <dgm:t>
        <a:bodyPr/>
        <a:lstStyle/>
        <a:p>
          <a:endParaRPr lang="en-US"/>
        </a:p>
      </dgm:t>
    </dgm:pt>
    <dgm:pt modelId="{D6B4465A-189A-4F6C-848F-4EEA4A1BC5FA}" type="sibTrans" cxnId="{890F9C35-BD61-45F9-B9ED-8989452B6A35}">
      <dgm:prSet/>
      <dgm:spPr/>
      <dgm:t>
        <a:bodyPr/>
        <a:lstStyle/>
        <a:p>
          <a:endParaRPr lang="en-US"/>
        </a:p>
      </dgm:t>
    </dgm:pt>
    <dgm:pt modelId="{D2E189B2-C4D0-4A48-9817-CACEDA542830}">
      <dgm:prSet/>
      <dgm:spPr/>
      <dgm:t>
        <a:bodyPr/>
        <a:lstStyle/>
        <a:p>
          <a:pPr>
            <a:lnSpc>
              <a:spcPct val="100000"/>
            </a:lnSpc>
          </a:pPr>
          <a:r>
            <a:rPr lang="en-US"/>
            <a:t>It consists 3204 observations and 23 variables</a:t>
          </a:r>
        </a:p>
      </dgm:t>
    </dgm:pt>
    <dgm:pt modelId="{57CEFA3C-335B-42D3-9029-1B54A115E8DF}" type="parTrans" cxnId="{E441B31D-D6DC-4D74-8B22-01317069FE6C}">
      <dgm:prSet/>
      <dgm:spPr/>
      <dgm:t>
        <a:bodyPr/>
        <a:lstStyle/>
        <a:p>
          <a:endParaRPr lang="en-US"/>
        </a:p>
      </dgm:t>
    </dgm:pt>
    <dgm:pt modelId="{CBA124E1-B438-453C-84F5-0C70311CF858}" type="sibTrans" cxnId="{E441B31D-D6DC-4D74-8B22-01317069FE6C}">
      <dgm:prSet/>
      <dgm:spPr/>
      <dgm:t>
        <a:bodyPr/>
        <a:lstStyle/>
        <a:p>
          <a:endParaRPr lang="en-US"/>
        </a:p>
      </dgm:t>
    </dgm:pt>
    <dgm:pt modelId="{35B7C222-725B-450D-A005-B1038C300FEE}" type="pres">
      <dgm:prSet presAssocID="{D2294008-81FE-43EE-AEA0-E86FD3E5A293}" presName="root" presStyleCnt="0">
        <dgm:presLayoutVars>
          <dgm:dir/>
          <dgm:resizeHandles val="exact"/>
        </dgm:presLayoutVars>
      </dgm:prSet>
      <dgm:spPr/>
    </dgm:pt>
    <dgm:pt modelId="{D3BEF2E9-7DFB-4F98-BF0B-AFF06AEDC867}" type="pres">
      <dgm:prSet presAssocID="{627FD28C-C4A4-4228-B961-792B9C53D101}" presName="compNode" presStyleCnt="0"/>
      <dgm:spPr/>
    </dgm:pt>
    <dgm:pt modelId="{2EDC80DB-1A34-4C4B-B387-68A396070864}" type="pres">
      <dgm:prSet presAssocID="{627FD28C-C4A4-4228-B961-792B9C53D10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38185A34-9BBE-4F62-8722-11513EBF102B}" type="pres">
      <dgm:prSet presAssocID="{627FD28C-C4A4-4228-B961-792B9C53D101}" presName="spaceRect" presStyleCnt="0"/>
      <dgm:spPr/>
    </dgm:pt>
    <dgm:pt modelId="{E0FCFC9D-E424-4D94-8FF3-0DA387F535EB}" type="pres">
      <dgm:prSet presAssocID="{627FD28C-C4A4-4228-B961-792B9C53D101}" presName="textRect" presStyleLbl="revTx" presStyleIdx="0" presStyleCnt="2">
        <dgm:presLayoutVars>
          <dgm:chMax val="1"/>
          <dgm:chPref val="1"/>
        </dgm:presLayoutVars>
      </dgm:prSet>
      <dgm:spPr/>
    </dgm:pt>
    <dgm:pt modelId="{0AC55D1E-136D-43A4-816E-34E798AAA215}" type="pres">
      <dgm:prSet presAssocID="{D6B4465A-189A-4F6C-848F-4EEA4A1BC5FA}" presName="sibTrans" presStyleCnt="0"/>
      <dgm:spPr/>
    </dgm:pt>
    <dgm:pt modelId="{54174C2F-9104-4D5C-B6CC-B245F0342E57}" type="pres">
      <dgm:prSet presAssocID="{D2E189B2-C4D0-4A48-9817-CACEDA542830}" presName="compNode" presStyleCnt="0"/>
      <dgm:spPr/>
    </dgm:pt>
    <dgm:pt modelId="{90465367-1292-4111-834F-72B1C8509A49}" type="pres">
      <dgm:prSet presAssocID="{D2E189B2-C4D0-4A48-9817-CACEDA54283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heckmark"/>
        </a:ext>
      </dgm:extLst>
    </dgm:pt>
    <dgm:pt modelId="{135B7605-D07F-415F-B15C-AED4594E6C5F}" type="pres">
      <dgm:prSet presAssocID="{D2E189B2-C4D0-4A48-9817-CACEDA542830}" presName="spaceRect" presStyleCnt="0"/>
      <dgm:spPr/>
    </dgm:pt>
    <dgm:pt modelId="{9767E32F-30AE-4371-A9FB-51003F36E1D6}" type="pres">
      <dgm:prSet presAssocID="{D2E189B2-C4D0-4A48-9817-CACEDA542830}" presName="textRect" presStyleLbl="revTx" presStyleIdx="1" presStyleCnt="2">
        <dgm:presLayoutVars>
          <dgm:chMax val="1"/>
          <dgm:chPref val="1"/>
        </dgm:presLayoutVars>
      </dgm:prSet>
      <dgm:spPr/>
    </dgm:pt>
  </dgm:ptLst>
  <dgm:cxnLst>
    <dgm:cxn modelId="{E441B31D-D6DC-4D74-8B22-01317069FE6C}" srcId="{D2294008-81FE-43EE-AEA0-E86FD3E5A293}" destId="{D2E189B2-C4D0-4A48-9817-CACEDA542830}" srcOrd="1" destOrd="0" parTransId="{57CEFA3C-335B-42D3-9029-1B54A115E8DF}" sibTransId="{CBA124E1-B438-453C-84F5-0C70311CF858}"/>
    <dgm:cxn modelId="{890F9C35-BD61-45F9-B9ED-8989452B6A35}" srcId="{D2294008-81FE-43EE-AEA0-E86FD3E5A293}" destId="{627FD28C-C4A4-4228-B961-792B9C53D101}" srcOrd="0" destOrd="0" parTransId="{B8389F50-A7B7-4687-A939-93C04556E1AB}" sibTransId="{D6B4465A-189A-4F6C-848F-4EEA4A1BC5FA}"/>
    <dgm:cxn modelId="{C17C1F54-4FEC-C040-9C9A-83BF942EE0DE}" type="presOf" srcId="{D2294008-81FE-43EE-AEA0-E86FD3E5A293}" destId="{35B7C222-725B-450D-A005-B1038C300FEE}" srcOrd="0" destOrd="0" presId="urn:microsoft.com/office/officeart/2018/2/layout/IconLabelList"/>
    <dgm:cxn modelId="{6D915096-47BD-F542-AB89-670EC5155CD3}" type="presOf" srcId="{627FD28C-C4A4-4228-B961-792B9C53D101}" destId="{E0FCFC9D-E424-4D94-8FF3-0DA387F535EB}" srcOrd="0" destOrd="0" presId="urn:microsoft.com/office/officeart/2018/2/layout/IconLabelList"/>
    <dgm:cxn modelId="{7F6DA497-664D-544F-92EE-347298A18CE6}" type="presOf" srcId="{D2E189B2-C4D0-4A48-9817-CACEDA542830}" destId="{9767E32F-30AE-4371-A9FB-51003F36E1D6}" srcOrd="0" destOrd="0" presId="urn:microsoft.com/office/officeart/2018/2/layout/IconLabelList"/>
    <dgm:cxn modelId="{5221C924-C7A4-5A42-B342-C54044AFC7C2}" type="presParOf" srcId="{35B7C222-725B-450D-A005-B1038C300FEE}" destId="{D3BEF2E9-7DFB-4F98-BF0B-AFF06AEDC867}" srcOrd="0" destOrd="0" presId="urn:microsoft.com/office/officeart/2018/2/layout/IconLabelList"/>
    <dgm:cxn modelId="{94B1B4E6-08D4-1046-9102-2941C0E9DC08}" type="presParOf" srcId="{D3BEF2E9-7DFB-4F98-BF0B-AFF06AEDC867}" destId="{2EDC80DB-1A34-4C4B-B387-68A396070864}" srcOrd="0" destOrd="0" presId="urn:microsoft.com/office/officeart/2018/2/layout/IconLabelList"/>
    <dgm:cxn modelId="{73B12A5B-7637-0B43-8A34-0789C21E1182}" type="presParOf" srcId="{D3BEF2E9-7DFB-4F98-BF0B-AFF06AEDC867}" destId="{38185A34-9BBE-4F62-8722-11513EBF102B}" srcOrd="1" destOrd="0" presId="urn:microsoft.com/office/officeart/2018/2/layout/IconLabelList"/>
    <dgm:cxn modelId="{7801BE40-F1EF-D749-8098-647B42C9D3D4}" type="presParOf" srcId="{D3BEF2E9-7DFB-4F98-BF0B-AFF06AEDC867}" destId="{E0FCFC9D-E424-4D94-8FF3-0DA387F535EB}" srcOrd="2" destOrd="0" presId="urn:microsoft.com/office/officeart/2018/2/layout/IconLabelList"/>
    <dgm:cxn modelId="{91989EFF-CF67-3340-BD93-055DDFC9911D}" type="presParOf" srcId="{35B7C222-725B-450D-A005-B1038C300FEE}" destId="{0AC55D1E-136D-43A4-816E-34E798AAA215}" srcOrd="1" destOrd="0" presId="urn:microsoft.com/office/officeart/2018/2/layout/IconLabelList"/>
    <dgm:cxn modelId="{1D9362A0-1D77-D94C-AC57-48936C965B3A}" type="presParOf" srcId="{35B7C222-725B-450D-A005-B1038C300FEE}" destId="{54174C2F-9104-4D5C-B6CC-B245F0342E57}" srcOrd="2" destOrd="0" presId="urn:microsoft.com/office/officeart/2018/2/layout/IconLabelList"/>
    <dgm:cxn modelId="{E2AF729D-6318-F746-AD6F-5C50BC3AFA7C}" type="presParOf" srcId="{54174C2F-9104-4D5C-B6CC-B245F0342E57}" destId="{90465367-1292-4111-834F-72B1C8509A49}" srcOrd="0" destOrd="0" presId="urn:microsoft.com/office/officeart/2018/2/layout/IconLabelList"/>
    <dgm:cxn modelId="{F66F33E4-AC02-AF4F-AC49-7E3C3D53B894}" type="presParOf" srcId="{54174C2F-9104-4D5C-B6CC-B245F0342E57}" destId="{135B7605-D07F-415F-B15C-AED4594E6C5F}" srcOrd="1" destOrd="0" presId="urn:microsoft.com/office/officeart/2018/2/layout/IconLabelList"/>
    <dgm:cxn modelId="{CA37E935-B4E4-FC40-A4E3-5CE9E13BC19F}" type="presParOf" srcId="{54174C2F-9104-4D5C-B6CC-B245F0342E57}" destId="{9767E32F-30AE-4371-A9FB-51003F36E1D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BEFD5C-64DF-4917-90CF-D58EB0ACF8C5}"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81CF9B62-51B8-41CE-AF37-E7A526FC67C0}">
      <dgm:prSet/>
      <dgm:spPr/>
      <dgm:t>
        <a:bodyPr/>
        <a:lstStyle/>
        <a:p>
          <a:r>
            <a:rPr lang="en-US"/>
            <a:t>Identifiers</a:t>
          </a:r>
        </a:p>
      </dgm:t>
    </dgm:pt>
    <dgm:pt modelId="{DA68A3D9-B766-4E5F-9F98-ED4AC668A93B}" type="parTrans" cxnId="{EB585DDD-5E9C-4CDD-8AD1-A55A4BE18B3C}">
      <dgm:prSet/>
      <dgm:spPr/>
      <dgm:t>
        <a:bodyPr/>
        <a:lstStyle/>
        <a:p>
          <a:endParaRPr lang="en-US"/>
        </a:p>
      </dgm:t>
    </dgm:pt>
    <dgm:pt modelId="{B5DB5F09-D79B-4F34-8776-2EE68649B7F3}" type="sibTrans" cxnId="{EB585DDD-5E9C-4CDD-8AD1-A55A4BE18B3C}">
      <dgm:prSet/>
      <dgm:spPr/>
      <dgm:t>
        <a:bodyPr/>
        <a:lstStyle/>
        <a:p>
          <a:endParaRPr lang="en-US"/>
        </a:p>
      </dgm:t>
    </dgm:pt>
    <dgm:pt modelId="{B0DC1A30-A98D-4E5C-93D8-4C326DD4143E}">
      <dgm:prSet/>
      <dgm:spPr/>
      <dgm:t>
        <a:bodyPr/>
        <a:lstStyle/>
        <a:p>
          <a:r>
            <a:rPr lang="en-US"/>
            <a:t>Warehouse zone</a:t>
          </a:r>
        </a:p>
      </dgm:t>
    </dgm:pt>
    <dgm:pt modelId="{755026DE-5860-4253-BBE1-3871AD1B9A4C}" type="parTrans" cxnId="{1F06D219-2AAE-4674-93C7-79E26FEDE211}">
      <dgm:prSet/>
      <dgm:spPr/>
      <dgm:t>
        <a:bodyPr/>
        <a:lstStyle/>
        <a:p>
          <a:endParaRPr lang="en-US"/>
        </a:p>
      </dgm:t>
    </dgm:pt>
    <dgm:pt modelId="{91270F7C-5F28-4E67-B4BA-5D166CA0DCAD}" type="sibTrans" cxnId="{1F06D219-2AAE-4674-93C7-79E26FEDE211}">
      <dgm:prSet/>
      <dgm:spPr/>
      <dgm:t>
        <a:bodyPr/>
        <a:lstStyle/>
        <a:p>
          <a:endParaRPr lang="en-US"/>
        </a:p>
      </dgm:t>
    </dgm:pt>
    <dgm:pt modelId="{C00ABECC-D5F5-409E-B3F2-4966E4FEB5B1}">
      <dgm:prSet/>
      <dgm:spPr/>
      <dgm:t>
        <a:bodyPr/>
        <a:lstStyle/>
        <a:p>
          <a:r>
            <a:rPr lang="en-US"/>
            <a:t>Inventory metrics</a:t>
          </a:r>
        </a:p>
      </dgm:t>
    </dgm:pt>
    <dgm:pt modelId="{3876FA00-D403-4DBA-A14A-FDDFD0F1FFA2}" type="parTrans" cxnId="{F39F4416-B123-4262-8DBC-2846EE2B3FB1}">
      <dgm:prSet/>
      <dgm:spPr/>
      <dgm:t>
        <a:bodyPr/>
        <a:lstStyle/>
        <a:p>
          <a:endParaRPr lang="en-US"/>
        </a:p>
      </dgm:t>
    </dgm:pt>
    <dgm:pt modelId="{D6D08414-6653-4B74-99BA-236FC6269D87}" type="sibTrans" cxnId="{F39F4416-B123-4262-8DBC-2846EE2B3FB1}">
      <dgm:prSet/>
      <dgm:spPr/>
      <dgm:t>
        <a:bodyPr/>
        <a:lstStyle/>
        <a:p>
          <a:endParaRPr lang="en-US"/>
        </a:p>
      </dgm:t>
    </dgm:pt>
    <dgm:pt modelId="{9E3B24B0-E90C-432F-A854-AF1646CDC826}">
      <dgm:prSet/>
      <dgm:spPr/>
      <dgm:t>
        <a:bodyPr/>
        <a:lstStyle/>
        <a:p>
          <a:r>
            <a:rPr lang="en-US"/>
            <a:t>Reorder policy metrics</a:t>
          </a:r>
        </a:p>
      </dgm:t>
    </dgm:pt>
    <dgm:pt modelId="{B69D5B72-7C2F-4B4D-ABEF-ADBC371F5EA2}" type="parTrans" cxnId="{8AFAF3B8-BB6F-4A28-9396-42D14F54B3AA}">
      <dgm:prSet/>
      <dgm:spPr/>
      <dgm:t>
        <a:bodyPr/>
        <a:lstStyle/>
        <a:p>
          <a:endParaRPr lang="en-US"/>
        </a:p>
      </dgm:t>
    </dgm:pt>
    <dgm:pt modelId="{D3BD8CDA-62A5-4F60-8FEA-0B79B283EA30}" type="sibTrans" cxnId="{8AFAF3B8-BB6F-4A28-9396-42D14F54B3AA}">
      <dgm:prSet/>
      <dgm:spPr/>
      <dgm:t>
        <a:bodyPr/>
        <a:lstStyle/>
        <a:p>
          <a:endParaRPr lang="en-US"/>
        </a:p>
      </dgm:t>
    </dgm:pt>
    <dgm:pt modelId="{22951104-12C8-4AA4-8830-3FFBE8F145D9}">
      <dgm:prSet/>
      <dgm:spPr/>
      <dgm:t>
        <a:bodyPr/>
        <a:lstStyle/>
        <a:p>
          <a:r>
            <a:rPr lang="en-US"/>
            <a:t>Lead time</a:t>
          </a:r>
        </a:p>
      </dgm:t>
    </dgm:pt>
    <dgm:pt modelId="{DFD07613-104B-4850-9DBE-4F309B299400}" type="parTrans" cxnId="{3E78AA7D-237D-46C1-994D-62B558C51106}">
      <dgm:prSet/>
      <dgm:spPr/>
      <dgm:t>
        <a:bodyPr/>
        <a:lstStyle/>
        <a:p>
          <a:endParaRPr lang="en-US"/>
        </a:p>
      </dgm:t>
    </dgm:pt>
    <dgm:pt modelId="{6BD331BE-6320-4767-8C73-705126E35D52}" type="sibTrans" cxnId="{3E78AA7D-237D-46C1-994D-62B558C51106}">
      <dgm:prSet/>
      <dgm:spPr/>
      <dgm:t>
        <a:bodyPr/>
        <a:lstStyle/>
        <a:p>
          <a:endParaRPr lang="en-US"/>
        </a:p>
      </dgm:t>
    </dgm:pt>
    <dgm:pt modelId="{05CB45CF-6EDE-4FE4-85A1-40098E2074F0}">
      <dgm:prSet/>
      <dgm:spPr/>
      <dgm:t>
        <a:bodyPr/>
        <a:lstStyle/>
        <a:p>
          <a:r>
            <a:rPr lang="en-US"/>
            <a:t>Demand measures</a:t>
          </a:r>
        </a:p>
      </dgm:t>
    </dgm:pt>
    <dgm:pt modelId="{68614026-3FF1-4F2E-A03C-38A5BBDC0D38}" type="parTrans" cxnId="{AFC3F2A3-5AD4-4509-8835-D995C1D9450C}">
      <dgm:prSet/>
      <dgm:spPr/>
      <dgm:t>
        <a:bodyPr/>
        <a:lstStyle/>
        <a:p>
          <a:endParaRPr lang="en-US"/>
        </a:p>
      </dgm:t>
    </dgm:pt>
    <dgm:pt modelId="{00A7EDCA-5A6D-4681-8B7F-9D129FF9A576}" type="sibTrans" cxnId="{AFC3F2A3-5AD4-4509-8835-D995C1D9450C}">
      <dgm:prSet/>
      <dgm:spPr/>
      <dgm:t>
        <a:bodyPr/>
        <a:lstStyle/>
        <a:p>
          <a:endParaRPr lang="en-US"/>
        </a:p>
      </dgm:t>
    </dgm:pt>
    <dgm:pt modelId="{35193B16-5784-41CA-B5DC-17548EFC4862}">
      <dgm:prSet/>
      <dgm:spPr/>
      <dgm:t>
        <a:bodyPr/>
        <a:lstStyle/>
        <a:p>
          <a:r>
            <a:rPr lang="en-US"/>
            <a:t>Operational KPIs</a:t>
          </a:r>
        </a:p>
      </dgm:t>
    </dgm:pt>
    <dgm:pt modelId="{9C0F1683-7494-410D-9D18-C3EA97CF5C39}" type="parTrans" cxnId="{44164032-0326-4589-8CA1-AFBA29F59EE8}">
      <dgm:prSet/>
      <dgm:spPr/>
      <dgm:t>
        <a:bodyPr/>
        <a:lstStyle/>
        <a:p>
          <a:endParaRPr lang="en-US"/>
        </a:p>
      </dgm:t>
    </dgm:pt>
    <dgm:pt modelId="{6E5FD6C5-F67F-4205-9C27-49C404F52972}" type="sibTrans" cxnId="{44164032-0326-4589-8CA1-AFBA29F59EE8}">
      <dgm:prSet/>
      <dgm:spPr/>
      <dgm:t>
        <a:bodyPr/>
        <a:lstStyle/>
        <a:p>
          <a:endParaRPr lang="en-US"/>
        </a:p>
      </dgm:t>
    </dgm:pt>
    <dgm:pt modelId="{70A3E127-091F-4749-AB94-5D68A023FBCC}" type="pres">
      <dgm:prSet presAssocID="{4DBEFD5C-64DF-4917-90CF-D58EB0ACF8C5}" presName="diagram" presStyleCnt="0">
        <dgm:presLayoutVars>
          <dgm:dir/>
          <dgm:resizeHandles val="exact"/>
        </dgm:presLayoutVars>
      </dgm:prSet>
      <dgm:spPr/>
    </dgm:pt>
    <dgm:pt modelId="{8D350B18-06F5-F648-9DF6-FD882A28F75F}" type="pres">
      <dgm:prSet presAssocID="{81CF9B62-51B8-41CE-AF37-E7A526FC67C0}" presName="node" presStyleLbl="node1" presStyleIdx="0" presStyleCnt="7">
        <dgm:presLayoutVars>
          <dgm:bulletEnabled val="1"/>
        </dgm:presLayoutVars>
      </dgm:prSet>
      <dgm:spPr/>
    </dgm:pt>
    <dgm:pt modelId="{44DC8C1E-018C-B642-AF94-7DAE4C883654}" type="pres">
      <dgm:prSet presAssocID="{B5DB5F09-D79B-4F34-8776-2EE68649B7F3}" presName="sibTrans" presStyleCnt="0"/>
      <dgm:spPr/>
    </dgm:pt>
    <dgm:pt modelId="{CCFA24E9-B835-F94D-A42E-C9C93A6F4952}" type="pres">
      <dgm:prSet presAssocID="{B0DC1A30-A98D-4E5C-93D8-4C326DD4143E}" presName="node" presStyleLbl="node1" presStyleIdx="1" presStyleCnt="7">
        <dgm:presLayoutVars>
          <dgm:bulletEnabled val="1"/>
        </dgm:presLayoutVars>
      </dgm:prSet>
      <dgm:spPr/>
    </dgm:pt>
    <dgm:pt modelId="{48EBE3C1-35C6-7245-9875-F8FD7EEE61BF}" type="pres">
      <dgm:prSet presAssocID="{91270F7C-5F28-4E67-B4BA-5D166CA0DCAD}" presName="sibTrans" presStyleCnt="0"/>
      <dgm:spPr/>
    </dgm:pt>
    <dgm:pt modelId="{0A0A0B52-3001-3E4D-A5CF-03FBBAFC7C37}" type="pres">
      <dgm:prSet presAssocID="{C00ABECC-D5F5-409E-B3F2-4966E4FEB5B1}" presName="node" presStyleLbl="node1" presStyleIdx="2" presStyleCnt="7">
        <dgm:presLayoutVars>
          <dgm:bulletEnabled val="1"/>
        </dgm:presLayoutVars>
      </dgm:prSet>
      <dgm:spPr/>
    </dgm:pt>
    <dgm:pt modelId="{757E907D-61D4-864B-B6E2-27123FF1B2A0}" type="pres">
      <dgm:prSet presAssocID="{D6D08414-6653-4B74-99BA-236FC6269D87}" presName="sibTrans" presStyleCnt="0"/>
      <dgm:spPr/>
    </dgm:pt>
    <dgm:pt modelId="{326B100C-F9AE-6B49-9E8C-42F8F5801673}" type="pres">
      <dgm:prSet presAssocID="{9E3B24B0-E90C-432F-A854-AF1646CDC826}" presName="node" presStyleLbl="node1" presStyleIdx="3" presStyleCnt="7">
        <dgm:presLayoutVars>
          <dgm:bulletEnabled val="1"/>
        </dgm:presLayoutVars>
      </dgm:prSet>
      <dgm:spPr/>
    </dgm:pt>
    <dgm:pt modelId="{29A2CBEF-8DE4-9549-BBEE-1ECFA6173F4D}" type="pres">
      <dgm:prSet presAssocID="{D3BD8CDA-62A5-4F60-8FEA-0B79B283EA30}" presName="sibTrans" presStyleCnt="0"/>
      <dgm:spPr/>
    </dgm:pt>
    <dgm:pt modelId="{2AB73CA9-84C2-814A-8497-9D33A7E4FEFA}" type="pres">
      <dgm:prSet presAssocID="{22951104-12C8-4AA4-8830-3FFBE8F145D9}" presName="node" presStyleLbl="node1" presStyleIdx="4" presStyleCnt="7">
        <dgm:presLayoutVars>
          <dgm:bulletEnabled val="1"/>
        </dgm:presLayoutVars>
      </dgm:prSet>
      <dgm:spPr/>
    </dgm:pt>
    <dgm:pt modelId="{78041DD3-1CC0-4845-BAF0-EAD917678BB4}" type="pres">
      <dgm:prSet presAssocID="{6BD331BE-6320-4767-8C73-705126E35D52}" presName="sibTrans" presStyleCnt="0"/>
      <dgm:spPr/>
    </dgm:pt>
    <dgm:pt modelId="{1383EF63-B54D-4F4A-93AF-D4AF46F1218A}" type="pres">
      <dgm:prSet presAssocID="{05CB45CF-6EDE-4FE4-85A1-40098E2074F0}" presName="node" presStyleLbl="node1" presStyleIdx="5" presStyleCnt="7">
        <dgm:presLayoutVars>
          <dgm:bulletEnabled val="1"/>
        </dgm:presLayoutVars>
      </dgm:prSet>
      <dgm:spPr/>
    </dgm:pt>
    <dgm:pt modelId="{84B3E229-47C1-ED4B-8392-836BE26E0D0A}" type="pres">
      <dgm:prSet presAssocID="{00A7EDCA-5A6D-4681-8B7F-9D129FF9A576}" presName="sibTrans" presStyleCnt="0"/>
      <dgm:spPr/>
    </dgm:pt>
    <dgm:pt modelId="{2F73B52F-7C73-EB4E-A6A1-23B289D5D50C}" type="pres">
      <dgm:prSet presAssocID="{35193B16-5784-41CA-B5DC-17548EFC4862}" presName="node" presStyleLbl="node1" presStyleIdx="6" presStyleCnt="7">
        <dgm:presLayoutVars>
          <dgm:bulletEnabled val="1"/>
        </dgm:presLayoutVars>
      </dgm:prSet>
      <dgm:spPr/>
    </dgm:pt>
  </dgm:ptLst>
  <dgm:cxnLst>
    <dgm:cxn modelId="{F39F4416-B123-4262-8DBC-2846EE2B3FB1}" srcId="{4DBEFD5C-64DF-4917-90CF-D58EB0ACF8C5}" destId="{C00ABECC-D5F5-409E-B3F2-4966E4FEB5B1}" srcOrd="2" destOrd="0" parTransId="{3876FA00-D403-4DBA-A14A-FDDFD0F1FFA2}" sibTransId="{D6D08414-6653-4B74-99BA-236FC6269D87}"/>
    <dgm:cxn modelId="{1F06D219-2AAE-4674-93C7-79E26FEDE211}" srcId="{4DBEFD5C-64DF-4917-90CF-D58EB0ACF8C5}" destId="{B0DC1A30-A98D-4E5C-93D8-4C326DD4143E}" srcOrd="1" destOrd="0" parTransId="{755026DE-5860-4253-BBE1-3871AD1B9A4C}" sibTransId="{91270F7C-5F28-4E67-B4BA-5D166CA0DCAD}"/>
    <dgm:cxn modelId="{7EF5BD27-BE0D-334D-8607-357F5B0D70E5}" type="presOf" srcId="{C00ABECC-D5F5-409E-B3F2-4966E4FEB5B1}" destId="{0A0A0B52-3001-3E4D-A5CF-03FBBAFC7C37}" srcOrd="0" destOrd="0" presId="urn:microsoft.com/office/officeart/2005/8/layout/default"/>
    <dgm:cxn modelId="{44164032-0326-4589-8CA1-AFBA29F59EE8}" srcId="{4DBEFD5C-64DF-4917-90CF-D58EB0ACF8C5}" destId="{35193B16-5784-41CA-B5DC-17548EFC4862}" srcOrd="6" destOrd="0" parTransId="{9C0F1683-7494-410D-9D18-C3EA97CF5C39}" sibTransId="{6E5FD6C5-F67F-4205-9C27-49C404F52972}"/>
    <dgm:cxn modelId="{B031DC3C-B62C-4248-B7AA-707CEFE16418}" type="presOf" srcId="{22951104-12C8-4AA4-8830-3FFBE8F145D9}" destId="{2AB73CA9-84C2-814A-8497-9D33A7E4FEFA}" srcOrd="0" destOrd="0" presId="urn:microsoft.com/office/officeart/2005/8/layout/default"/>
    <dgm:cxn modelId="{B306B068-DA18-1345-9D87-EC4DC65674BF}" type="presOf" srcId="{B0DC1A30-A98D-4E5C-93D8-4C326DD4143E}" destId="{CCFA24E9-B835-F94D-A42E-C9C93A6F4952}" srcOrd="0" destOrd="0" presId="urn:microsoft.com/office/officeart/2005/8/layout/default"/>
    <dgm:cxn modelId="{DFFE0479-8338-FA49-B9ED-7FD095E69FEA}" type="presOf" srcId="{4DBEFD5C-64DF-4917-90CF-D58EB0ACF8C5}" destId="{70A3E127-091F-4749-AB94-5D68A023FBCC}" srcOrd="0" destOrd="0" presId="urn:microsoft.com/office/officeart/2005/8/layout/default"/>
    <dgm:cxn modelId="{3E78AA7D-237D-46C1-994D-62B558C51106}" srcId="{4DBEFD5C-64DF-4917-90CF-D58EB0ACF8C5}" destId="{22951104-12C8-4AA4-8830-3FFBE8F145D9}" srcOrd="4" destOrd="0" parTransId="{DFD07613-104B-4850-9DBE-4F309B299400}" sibTransId="{6BD331BE-6320-4767-8C73-705126E35D52}"/>
    <dgm:cxn modelId="{AFC3F2A3-5AD4-4509-8835-D995C1D9450C}" srcId="{4DBEFD5C-64DF-4917-90CF-D58EB0ACF8C5}" destId="{05CB45CF-6EDE-4FE4-85A1-40098E2074F0}" srcOrd="5" destOrd="0" parTransId="{68614026-3FF1-4F2E-A03C-38A5BBDC0D38}" sibTransId="{00A7EDCA-5A6D-4681-8B7F-9D129FF9A576}"/>
    <dgm:cxn modelId="{A5E7D7B3-1A2F-294C-9F4E-82E5551B3A7D}" type="presOf" srcId="{9E3B24B0-E90C-432F-A854-AF1646CDC826}" destId="{326B100C-F9AE-6B49-9E8C-42F8F5801673}" srcOrd="0" destOrd="0" presId="urn:microsoft.com/office/officeart/2005/8/layout/default"/>
    <dgm:cxn modelId="{0C130AB4-F941-D14E-9BB9-A574C85BE778}" type="presOf" srcId="{81CF9B62-51B8-41CE-AF37-E7A526FC67C0}" destId="{8D350B18-06F5-F648-9DF6-FD882A28F75F}" srcOrd="0" destOrd="0" presId="urn:microsoft.com/office/officeart/2005/8/layout/default"/>
    <dgm:cxn modelId="{8AFAF3B8-BB6F-4A28-9396-42D14F54B3AA}" srcId="{4DBEFD5C-64DF-4917-90CF-D58EB0ACF8C5}" destId="{9E3B24B0-E90C-432F-A854-AF1646CDC826}" srcOrd="3" destOrd="0" parTransId="{B69D5B72-7C2F-4B4D-ABEF-ADBC371F5EA2}" sibTransId="{D3BD8CDA-62A5-4F60-8FEA-0B79B283EA30}"/>
    <dgm:cxn modelId="{17F5ACCA-4AF0-BD45-98E2-DC0635E594E1}" type="presOf" srcId="{35193B16-5784-41CA-B5DC-17548EFC4862}" destId="{2F73B52F-7C73-EB4E-A6A1-23B289D5D50C}" srcOrd="0" destOrd="0" presId="urn:microsoft.com/office/officeart/2005/8/layout/default"/>
    <dgm:cxn modelId="{EB585DDD-5E9C-4CDD-8AD1-A55A4BE18B3C}" srcId="{4DBEFD5C-64DF-4917-90CF-D58EB0ACF8C5}" destId="{81CF9B62-51B8-41CE-AF37-E7A526FC67C0}" srcOrd="0" destOrd="0" parTransId="{DA68A3D9-B766-4E5F-9F98-ED4AC668A93B}" sibTransId="{B5DB5F09-D79B-4F34-8776-2EE68649B7F3}"/>
    <dgm:cxn modelId="{DF0028E5-5168-2748-88D6-890C7A7F7C33}" type="presOf" srcId="{05CB45CF-6EDE-4FE4-85A1-40098E2074F0}" destId="{1383EF63-B54D-4F4A-93AF-D4AF46F1218A}" srcOrd="0" destOrd="0" presId="urn:microsoft.com/office/officeart/2005/8/layout/default"/>
    <dgm:cxn modelId="{65CAE718-B2F4-2944-9C7B-B3EA4BF90C03}" type="presParOf" srcId="{70A3E127-091F-4749-AB94-5D68A023FBCC}" destId="{8D350B18-06F5-F648-9DF6-FD882A28F75F}" srcOrd="0" destOrd="0" presId="urn:microsoft.com/office/officeart/2005/8/layout/default"/>
    <dgm:cxn modelId="{62AFC673-0B07-F14D-A6A0-35C7BCB255F4}" type="presParOf" srcId="{70A3E127-091F-4749-AB94-5D68A023FBCC}" destId="{44DC8C1E-018C-B642-AF94-7DAE4C883654}" srcOrd="1" destOrd="0" presId="urn:microsoft.com/office/officeart/2005/8/layout/default"/>
    <dgm:cxn modelId="{1E342D88-5AFE-C940-86DE-7FDC10AFDD34}" type="presParOf" srcId="{70A3E127-091F-4749-AB94-5D68A023FBCC}" destId="{CCFA24E9-B835-F94D-A42E-C9C93A6F4952}" srcOrd="2" destOrd="0" presId="urn:microsoft.com/office/officeart/2005/8/layout/default"/>
    <dgm:cxn modelId="{6A2E4A41-9F74-2B47-9053-64424E892422}" type="presParOf" srcId="{70A3E127-091F-4749-AB94-5D68A023FBCC}" destId="{48EBE3C1-35C6-7245-9875-F8FD7EEE61BF}" srcOrd="3" destOrd="0" presId="urn:microsoft.com/office/officeart/2005/8/layout/default"/>
    <dgm:cxn modelId="{C5F9218F-06E4-BD4E-8C0F-987EB52DAFCA}" type="presParOf" srcId="{70A3E127-091F-4749-AB94-5D68A023FBCC}" destId="{0A0A0B52-3001-3E4D-A5CF-03FBBAFC7C37}" srcOrd="4" destOrd="0" presId="urn:microsoft.com/office/officeart/2005/8/layout/default"/>
    <dgm:cxn modelId="{523DFCAB-D607-1B41-9CB5-899D5EC0EC95}" type="presParOf" srcId="{70A3E127-091F-4749-AB94-5D68A023FBCC}" destId="{757E907D-61D4-864B-B6E2-27123FF1B2A0}" srcOrd="5" destOrd="0" presId="urn:microsoft.com/office/officeart/2005/8/layout/default"/>
    <dgm:cxn modelId="{2469D00D-199F-6B49-88BC-4B600B9A803A}" type="presParOf" srcId="{70A3E127-091F-4749-AB94-5D68A023FBCC}" destId="{326B100C-F9AE-6B49-9E8C-42F8F5801673}" srcOrd="6" destOrd="0" presId="urn:microsoft.com/office/officeart/2005/8/layout/default"/>
    <dgm:cxn modelId="{CDCB6DAB-5476-5E44-B55F-150266BE0CDD}" type="presParOf" srcId="{70A3E127-091F-4749-AB94-5D68A023FBCC}" destId="{29A2CBEF-8DE4-9549-BBEE-1ECFA6173F4D}" srcOrd="7" destOrd="0" presId="urn:microsoft.com/office/officeart/2005/8/layout/default"/>
    <dgm:cxn modelId="{52E75756-64C9-9246-8FD9-481DA8CC7282}" type="presParOf" srcId="{70A3E127-091F-4749-AB94-5D68A023FBCC}" destId="{2AB73CA9-84C2-814A-8497-9D33A7E4FEFA}" srcOrd="8" destOrd="0" presId="urn:microsoft.com/office/officeart/2005/8/layout/default"/>
    <dgm:cxn modelId="{6E738EFB-1A63-724B-AF80-BFE5CF934A57}" type="presParOf" srcId="{70A3E127-091F-4749-AB94-5D68A023FBCC}" destId="{78041DD3-1CC0-4845-BAF0-EAD917678BB4}" srcOrd="9" destOrd="0" presId="urn:microsoft.com/office/officeart/2005/8/layout/default"/>
    <dgm:cxn modelId="{05359C5D-1EA2-624C-86BB-03C3529F87BE}" type="presParOf" srcId="{70A3E127-091F-4749-AB94-5D68A023FBCC}" destId="{1383EF63-B54D-4F4A-93AF-D4AF46F1218A}" srcOrd="10" destOrd="0" presId="urn:microsoft.com/office/officeart/2005/8/layout/default"/>
    <dgm:cxn modelId="{34A5BEA0-6CDA-0C4C-8767-0FAB1B76DBEC}" type="presParOf" srcId="{70A3E127-091F-4749-AB94-5D68A023FBCC}" destId="{84B3E229-47C1-ED4B-8392-836BE26E0D0A}" srcOrd="11" destOrd="0" presId="urn:microsoft.com/office/officeart/2005/8/layout/default"/>
    <dgm:cxn modelId="{4233EB21-95BB-784C-B3B8-DED0C8178DE8}" type="presParOf" srcId="{70A3E127-091F-4749-AB94-5D68A023FBCC}" destId="{2F73B52F-7C73-EB4E-A6A1-23B289D5D50C}"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CB692A-F855-4993-9E16-39C3E0174FC4}" type="doc">
      <dgm:prSet loTypeId="urn:microsoft.com/office/officeart/2005/8/layout/cycle3" loCatId="cycle" qsTypeId="urn:microsoft.com/office/officeart/2005/8/quickstyle/simple1" qsCatId="simple" csTypeId="urn:microsoft.com/office/officeart/2005/8/colors/colorful2" csCatId="colorful"/>
      <dgm:spPr/>
      <dgm:t>
        <a:bodyPr/>
        <a:lstStyle/>
        <a:p>
          <a:endParaRPr lang="en-US"/>
        </a:p>
      </dgm:t>
    </dgm:pt>
    <dgm:pt modelId="{DBB28D98-30CC-4FBC-B02F-3AECF84A1AC4}">
      <dgm:prSet/>
      <dgm:spPr/>
      <dgm:t>
        <a:bodyPr/>
        <a:lstStyle/>
        <a:p>
          <a:r>
            <a:rPr lang="en-US"/>
            <a:t>Stock level</a:t>
          </a:r>
        </a:p>
      </dgm:t>
    </dgm:pt>
    <dgm:pt modelId="{67C34CC9-D8EC-4456-9371-2E27564936F1}" type="parTrans" cxnId="{ADF3433B-7EFA-4279-A11D-BED894EDD545}">
      <dgm:prSet/>
      <dgm:spPr/>
      <dgm:t>
        <a:bodyPr/>
        <a:lstStyle/>
        <a:p>
          <a:endParaRPr lang="en-US"/>
        </a:p>
      </dgm:t>
    </dgm:pt>
    <dgm:pt modelId="{A2FC14D8-E811-403F-8FBA-A3AA8CC5FD1E}" type="sibTrans" cxnId="{ADF3433B-7EFA-4279-A11D-BED894EDD545}">
      <dgm:prSet/>
      <dgm:spPr/>
      <dgm:t>
        <a:bodyPr/>
        <a:lstStyle/>
        <a:p>
          <a:endParaRPr lang="en-US"/>
        </a:p>
      </dgm:t>
    </dgm:pt>
    <dgm:pt modelId="{F891233A-2C63-4858-A153-921E31D5A813}">
      <dgm:prSet/>
      <dgm:spPr/>
      <dgm:t>
        <a:bodyPr/>
        <a:lstStyle/>
        <a:p>
          <a:r>
            <a:rPr lang="en-US"/>
            <a:t>Reorder point</a:t>
          </a:r>
        </a:p>
      </dgm:t>
    </dgm:pt>
    <dgm:pt modelId="{F792CBCD-312A-45CB-A457-3515EEADFBEF}" type="parTrans" cxnId="{0484DF26-68B1-4AC1-BE6A-22E6A96C1418}">
      <dgm:prSet/>
      <dgm:spPr/>
      <dgm:t>
        <a:bodyPr/>
        <a:lstStyle/>
        <a:p>
          <a:endParaRPr lang="en-US"/>
        </a:p>
      </dgm:t>
    </dgm:pt>
    <dgm:pt modelId="{997D1D47-0CD6-4DA0-B0FD-AF779842A1B2}" type="sibTrans" cxnId="{0484DF26-68B1-4AC1-BE6A-22E6A96C1418}">
      <dgm:prSet/>
      <dgm:spPr/>
      <dgm:t>
        <a:bodyPr/>
        <a:lstStyle/>
        <a:p>
          <a:endParaRPr lang="en-US"/>
        </a:p>
      </dgm:t>
    </dgm:pt>
    <dgm:pt modelId="{0EA1C4FD-0D83-474D-932F-515852BE76FE}">
      <dgm:prSet/>
      <dgm:spPr/>
      <dgm:t>
        <a:bodyPr/>
        <a:lstStyle/>
        <a:p>
          <a:r>
            <a:rPr lang="en-US"/>
            <a:t>Daily demand</a:t>
          </a:r>
        </a:p>
      </dgm:t>
    </dgm:pt>
    <dgm:pt modelId="{F0D14A72-453B-4EFB-A94B-BFF8B9A8D8EF}" type="parTrans" cxnId="{46EFAACA-CA56-40FB-86EB-41BA2BB38483}">
      <dgm:prSet/>
      <dgm:spPr/>
      <dgm:t>
        <a:bodyPr/>
        <a:lstStyle/>
        <a:p>
          <a:endParaRPr lang="en-US"/>
        </a:p>
      </dgm:t>
    </dgm:pt>
    <dgm:pt modelId="{8B91CD86-518F-4F1A-8B7C-74979D2C5287}" type="sibTrans" cxnId="{46EFAACA-CA56-40FB-86EB-41BA2BB38483}">
      <dgm:prSet/>
      <dgm:spPr/>
      <dgm:t>
        <a:bodyPr/>
        <a:lstStyle/>
        <a:p>
          <a:endParaRPr lang="en-US"/>
        </a:p>
      </dgm:t>
    </dgm:pt>
    <dgm:pt modelId="{4F3F8DDC-7069-43FF-94A8-4EA2278D8791}">
      <dgm:prSet/>
      <dgm:spPr/>
      <dgm:t>
        <a:bodyPr/>
        <a:lstStyle/>
        <a:p>
          <a:r>
            <a:rPr lang="en-US"/>
            <a:t>Zone</a:t>
          </a:r>
        </a:p>
      </dgm:t>
    </dgm:pt>
    <dgm:pt modelId="{878BF508-BE81-4432-B7B8-D09B396C996A}" type="parTrans" cxnId="{CC8037CB-A76F-4A0F-A158-B21DCEBACB33}">
      <dgm:prSet/>
      <dgm:spPr/>
      <dgm:t>
        <a:bodyPr/>
        <a:lstStyle/>
        <a:p>
          <a:endParaRPr lang="en-US"/>
        </a:p>
      </dgm:t>
    </dgm:pt>
    <dgm:pt modelId="{98E253C0-3FA3-4E1E-B4E2-C59271E3E58B}" type="sibTrans" cxnId="{CC8037CB-A76F-4A0F-A158-B21DCEBACB33}">
      <dgm:prSet/>
      <dgm:spPr/>
      <dgm:t>
        <a:bodyPr/>
        <a:lstStyle/>
        <a:p>
          <a:endParaRPr lang="en-US"/>
        </a:p>
      </dgm:t>
    </dgm:pt>
    <dgm:pt modelId="{930EA399-7991-4E47-BCD5-15D4A1A0B7C0}">
      <dgm:prSet/>
      <dgm:spPr/>
      <dgm:t>
        <a:bodyPr/>
        <a:lstStyle/>
        <a:p>
          <a:r>
            <a:rPr lang="en-US"/>
            <a:t>Lead time days</a:t>
          </a:r>
        </a:p>
      </dgm:t>
    </dgm:pt>
    <dgm:pt modelId="{AFB1E4CF-3F82-49EB-968B-53BC28FAAD9A}" type="parTrans" cxnId="{331A36F9-8C09-4DAE-AA45-EE4C7F0620CA}">
      <dgm:prSet/>
      <dgm:spPr/>
      <dgm:t>
        <a:bodyPr/>
        <a:lstStyle/>
        <a:p>
          <a:endParaRPr lang="en-US"/>
        </a:p>
      </dgm:t>
    </dgm:pt>
    <dgm:pt modelId="{01C973D9-884F-40EA-8129-5109573B1993}" type="sibTrans" cxnId="{331A36F9-8C09-4DAE-AA45-EE4C7F0620CA}">
      <dgm:prSet/>
      <dgm:spPr/>
      <dgm:t>
        <a:bodyPr/>
        <a:lstStyle/>
        <a:p>
          <a:endParaRPr lang="en-US"/>
        </a:p>
      </dgm:t>
    </dgm:pt>
    <dgm:pt modelId="{F7A54DAD-33A3-4C72-86C0-ED4825C2E8AD}">
      <dgm:prSet/>
      <dgm:spPr/>
      <dgm:t>
        <a:bodyPr/>
        <a:lstStyle/>
        <a:p>
          <a:r>
            <a:rPr lang="en-US"/>
            <a:t>Reorder frequency days</a:t>
          </a:r>
        </a:p>
      </dgm:t>
    </dgm:pt>
    <dgm:pt modelId="{FEECBCAD-B6BB-4983-A59B-32C9765A702D}" type="parTrans" cxnId="{308E4E9F-7394-4ECB-A993-4EE31F87C774}">
      <dgm:prSet/>
      <dgm:spPr/>
      <dgm:t>
        <a:bodyPr/>
        <a:lstStyle/>
        <a:p>
          <a:endParaRPr lang="en-US"/>
        </a:p>
      </dgm:t>
    </dgm:pt>
    <dgm:pt modelId="{A32423F4-C659-419D-A90D-6D2ED67D3021}" type="sibTrans" cxnId="{308E4E9F-7394-4ECB-A993-4EE31F87C774}">
      <dgm:prSet/>
      <dgm:spPr/>
      <dgm:t>
        <a:bodyPr/>
        <a:lstStyle/>
        <a:p>
          <a:endParaRPr lang="en-US"/>
        </a:p>
      </dgm:t>
    </dgm:pt>
    <dgm:pt modelId="{F1B7B85B-562B-4DEF-A1E0-C0E84D58E56D}">
      <dgm:prSet/>
      <dgm:spPr/>
      <dgm:t>
        <a:bodyPr/>
        <a:lstStyle/>
        <a:p>
          <a:r>
            <a:rPr lang="en-US"/>
            <a:t>Demand st dev</a:t>
          </a:r>
        </a:p>
      </dgm:t>
    </dgm:pt>
    <dgm:pt modelId="{F560785C-881C-474A-AD3F-7793A73A6238}" type="parTrans" cxnId="{061CAD71-8F4B-4388-8886-C51D61D120D0}">
      <dgm:prSet/>
      <dgm:spPr/>
      <dgm:t>
        <a:bodyPr/>
        <a:lstStyle/>
        <a:p>
          <a:endParaRPr lang="en-US"/>
        </a:p>
      </dgm:t>
    </dgm:pt>
    <dgm:pt modelId="{1D8B4067-3E6C-4075-9CF2-AF988A42E178}" type="sibTrans" cxnId="{061CAD71-8F4B-4388-8886-C51D61D120D0}">
      <dgm:prSet/>
      <dgm:spPr/>
      <dgm:t>
        <a:bodyPr/>
        <a:lstStyle/>
        <a:p>
          <a:endParaRPr lang="en-US"/>
        </a:p>
      </dgm:t>
    </dgm:pt>
    <dgm:pt modelId="{D6F61EC8-BC02-4B9C-B93C-20F071679336}">
      <dgm:prSet/>
      <dgm:spPr/>
      <dgm:t>
        <a:bodyPr/>
        <a:lstStyle/>
        <a:p>
          <a:r>
            <a:rPr lang="en-US"/>
            <a:t>Stockout count last month</a:t>
          </a:r>
        </a:p>
      </dgm:t>
    </dgm:pt>
    <dgm:pt modelId="{1CE0E41C-3A37-4904-A29D-6899F1C335CA}" type="parTrans" cxnId="{AC7C4CD9-C05B-42C3-8694-B5862E0F0D93}">
      <dgm:prSet/>
      <dgm:spPr/>
      <dgm:t>
        <a:bodyPr/>
        <a:lstStyle/>
        <a:p>
          <a:endParaRPr lang="en-US"/>
        </a:p>
      </dgm:t>
    </dgm:pt>
    <dgm:pt modelId="{7CFADFC7-B7CF-4087-B3A0-02D115250713}" type="sibTrans" cxnId="{AC7C4CD9-C05B-42C3-8694-B5862E0F0D93}">
      <dgm:prSet/>
      <dgm:spPr/>
      <dgm:t>
        <a:bodyPr/>
        <a:lstStyle/>
        <a:p>
          <a:endParaRPr lang="en-US"/>
        </a:p>
      </dgm:t>
    </dgm:pt>
    <dgm:pt modelId="{47106810-59F9-4007-A490-4B16A571D3AD}">
      <dgm:prSet/>
      <dgm:spPr/>
      <dgm:t>
        <a:bodyPr/>
        <a:lstStyle/>
        <a:p>
          <a:r>
            <a:rPr lang="en-US"/>
            <a:t>Order fulfillment rate</a:t>
          </a:r>
        </a:p>
      </dgm:t>
    </dgm:pt>
    <dgm:pt modelId="{9CDDEB99-96BE-4480-A167-74B3CB19E24F}" type="parTrans" cxnId="{A7ECD71B-1E14-4986-8436-127DDDC278FD}">
      <dgm:prSet/>
      <dgm:spPr/>
      <dgm:t>
        <a:bodyPr/>
        <a:lstStyle/>
        <a:p>
          <a:endParaRPr lang="en-US"/>
        </a:p>
      </dgm:t>
    </dgm:pt>
    <dgm:pt modelId="{845E9ED3-EBC1-49D4-A4BC-747894F173ED}" type="sibTrans" cxnId="{A7ECD71B-1E14-4986-8436-127DDDC278FD}">
      <dgm:prSet/>
      <dgm:spPr/>
      <dgm:t>
        <a:bodyPr/>
        <a:lstStyle/>
        <a:p>
          <a:endParaRPr lang="en-US"/>
        </a:p>
      </dgm:t>
    </dgm:pt>
    <dgm:pt modelId="{9CFB36E1-F548-FB43-A5EF-A95F4B7C19D2}" type="pres">
      <dgm:prSet presAssocID="{FCCB692A-F855-4993-9E16-39C3E0174FC4}" presName="Name0" presStyleCnt="0">
        <dgm:presLayoutVars>
          <dgm:dir/>
          <dgm:resizeHandles val="exact"/>
        </dgm:presLayoutVars>
      </dgm:prSet>
      <dgm:spPr/>
    </dgm:pt>
    <dgm:pt modelId="{2408ACBA-A53E-B24D-86F0-C797E6C78D94}" type="pres">
      <dgm:prSet presAssocID="{FCCB692A-F855-4993-9E16-39C3E0174FC4}" presName="cycle" presStyleCnt="0"/>
      <dgm:spPr/>
    </dgm:pt>
    <dgm:pt modelId="{EA668964-6817-3348-A7D7-3979BE3DE587}" type="pres">
      <dgm:prSet presAssocID="{DBB28D98-30CC-4FBC-B02F-3AECF84A1AC4}" presName="nodeFirstNode" presStyleLbl="node1" presStyleIdx="0" presStyleCnt="9">
        <dgm:presLayoutVars>
          <dgm:bulletEnabled val="1"/>
        </dgm:presLayoutVars>
      </dgm:prSet>
      <dgm:spPr/>
    </dgm:pt>
    <dgm:pt modelId="{5D8C7E98-7F49-6845-AE23-85BD2ADAEA81}" type="pres">
      <dgm:prSet presAssocID="{A2FC14D8-E811-403F-8FBA-A3AA8CC5FD1E}" presName="sibTransFirstNode" presStyleLbl="bgShp" presStyleIdx="0" presStyleCnt="1"/>
      <dgm:spPr/>
    </dgm:pt>
    <dgm:pt modelId="{95A8F928-8D2A-8E48-B227-22E9F8CCCAD4}" type="pres">
      <dgm:prSet presAssocID="{F891233A-2C63-4858-A153-921E31D5A813}" presName="nodeFollowingNodes" presStyleLbl="node1" presStyleIdx="1" presStyleCnt="9">
        <dgm:presLayoutVars>
          <dgm:bulletEnabled val="1"/>
        </dgm:presLayoutVars>
      </dgm:prSet>
      <dgm:spPr/>
    </dgm:pt>
    <dgm:pt modelId="{63C0FDE6-3EB3-C042-8D45-13E1EC048DE9}" type="pres">
      <dgm:prSet presAssocID="{0EA1C4FD-0D83-474D-932F-515852BE76FE}" presName="nodeFollowingNodes" presStyleLbl="node1" presStyleIdx="2" presStyleCnt="9">
        <dgm:presLayoutVars>
          <dgm:bulletEnabled val="1"/>
        </dgm:presLayoutVars>
      </dgm:prSet>
      <dgm:spPr/>
    </dgm:pt>
    <dgm:pt modelId="{C64E57FE-C342-AC47-923A-5F211C5FD498}" type="pres">
      <dgm:prSet presAssocID="{4F3F8DDC-7069-43FF-94A8-4EA2278D8791}" presName="nodeFollowingNodes" presStyleLbl="node1" presStyleIdx="3" presStyleCnt="9">
        <dgm:presLayoutVars>
          <dgm:bulletEnabled val="1"/>
        </dgm:presLayoutVars>
      </dgm:prSet>
      <dgm:spPr/>
    </dgm:pt>
    <dgm:pt modelId="{42FA686A-8C46-D344-9960-45A683562645}" type="pres">
      <dgm:prSet presAssocID="{930EA399-7991-4E47-BCD5-15D4A1A0B7C0}" presName="nodeFollowingNodes" presStyleLbl="node1" presStyleIdx="4" presStyleCnt="9">
        <dgm:presLayoutVars>
          <dgm:bulletEnabled val="1"/>
        </dgm:presLayoutVars>
      </dgm:prSet>
      <dgm:spPr/>
    </dgm:pt>
    <dgm:pt modelId="{381B312B-7FBA-D54A-8704-F519F61FB4E0}" type="pres">
      <dgm:prSet presAssocID="{F7A54DAD-33A3-4C72-86C0-ED4825C2E8AD}" presName="nodeFollowingNodes" presStyleLbl="node1" presStyleIdx="5" presStyleCnt="9">
        <dgm:presLayoutVars>
          <dgm:bulletEnabled val="1"/>
        </dgm:presLayoutVars>
      </dgm:prSet>
      <dgm:spPr/>
    </dgm:pt>
    <dgm:pt modelId="{F7FCFCB0-5930-2F4E-8D60-134E1E90319A}" type="pres">
      <dgm:prSet presAssocID="{F1B7B85B-562B-4DEF-A1E0-C0E84D58E56D}" presName="nodeFollowingNodes" presStyleLbl="node1" presStyleIdx="6" presStyleCnt="9">
        <dgm:presLayoutVars>
          <dgm:bulletEnabled val="1"/>
        </dgm:presLayoutVars>
      </dgm:prSet>
      <dgm:spPr/>
    </dgm:pt>
    <dgm:pt modelId="{04C74085-7D6A-984D-9C12-B6E51B922F75}" type="pres">
      <dgm:prSet presAssocID="{D6F61EC8-BC02-4B9C-B93C-20F071679336}" presName="nodeFollowingNodes" presStyleLbl="node1" presStyleIdx="7" presStyleCnt="9">
        <dgm:presLayoutVars>
          <dgm:bulletEnabled val="1"/>
        </dgm:presLayoutVars>
      </dgm:prSet>
      <dgm:spPr/>
    </dgm:pt>
    <dgm:pt modelId="{81ADF848-D052-114C-B293-7A57DA002A08}" type="pres">
      <dgm:prSet presAssocID="{47106810-59F9-4007-A490-4B16A571D3AD}" presName="nodeFollowingNodes" presStyleLbl="node1" presStyleIdx="8" presStyleCnt="9">
        <dgm:presLayoutVars>
          <dgm:bulletEnabled val="1"/>
        </dgm:presLayoutVars>
      </dgm:prSet>
      <dgm:spPr/>
    </dgm:pt>
  </dgm:ptLst>
  <dgm:cxnLst>
    <dgm:cxn modelId="{B735A80C-09F2-8C46-B1E2-45BACB7E1CBA}" type="presOf" srcId="{F891233A-2C63-4858-A153-921E31D5A813}" destId="{95A8F928-8D2A-8E48-B227-22E9F8CCCAD4}" srcOrd="0" destOrd="0" presId="urn:microsoft.com/office/officeart/2005/8/layout/cycle3"/>
    <dgm:cxn modelId="{A7ECD71B-1E14-4986-8436-127DDDC278FD}" srcId="{FCCB692A-F855-4993-9E16-39C3E0174FC4}" destId="{47106810-59F9-4007-A490-4B16A571D3AD}" srcOrd="8" destOrd="0" parTransId="{9CDDEB99-96BE-4480-A167-74B3CB19E24F}" sibTransId="{845E9ED3-EBC1-49D4-A4BC-747894F173ED}"/>
    <dgm:cxn modelId="{6C906A23-B35C-EA48-8246-EB3E35555594}" type="presOf" srcId="{A2FC14D8-E811-403F-8FBA-A3AA8CC5FD1E}" destId="{5D8C7E98-7F49-6845-AE23-85BD2ADAEA81}" srcOrd="0" destOrd="0" presId="urn:microsoft.com/office/officeart/2005/8/layout/cycle3"/>
    <dgm:cxn modelId="{DB56AB26-F1DB-1C47-8FB5-2DB1ECBAF0A7}" type="presOf" srcId="{D6F61EC8-BC02-4B9C-B93C-20F071679336}" destId="{04C74085-7D6A-984D-9C12-B6E51B922F75}" srcOrd="0" destOrd="0" presId="urn:microsoft.com/office/officeart/2005/8/layout/cycle3"/>
    <dgm:cxn modelId="{0484DF26-68B1-4AC1-BE6A-22E6A96C1418}" srcId="{FCCB692A-F855-4993-9E16-39C3E0174FC4}" destId="{F891233A-2C63-4858-A153-921E31D5A813}" srcOrd="1" destOrd="0" parTransId="{F792CBCD-312A-45CB-A457-3515EEADFBEF}" sibTransId="{997D1D47-0CD6-4DA0-B0FD-AF779842A1B2}"/>
    <dgm:cxn modelId="{ADF3433B-7EFA-4279-A11D-BED894EDD545}" srcId="{FCCB692A-F855-4993-9E16-39C3E0174FC4}" destId="{DBB28D98-30CC-4FBC-B02F-3AECF84A1AC4}" srcOrd="0" destOrd="0" parTransId="{67C34CC9-D8EC-4456-9371-2E27564936F1}" sibTransId="{A2FC14D8-E811-403F-8FBA-A3AA8CC5FD1E}"/>
    <dgm:cxn modelId="{981EA45B-D2E3-124C-B14C-F5C9845B247C}" type="presOf" srcId="{DBB28D98-30CC-4FBC-B02F-3AECF84A1AC4}" destId="{EA668964-6817-3348-A7D7-3979BE3DE587}" srcOrd="0" destOrd="0" presId="urn:microsoft.com/office/officeart/2005/8/layout/cycle3"/>
    <dgm:cxn modelId="{D45D6861-90B1-A245-89CB-802B74AB4317}" type="presOf" srcId="{F1B7B85B-562B-4DEF-A1E0-C0E84D58E56D}" destId="{F7FCFCB0-5930-2F4E-8D60-134E1E90319A}" srcOrd="0" destOrd="0" presId="urn:microsoft.com/office/officeart/2005/8/layout/cycle3"/>
    <dgm:cxn modelId="{F77A9462-B2D7-DA4C-B484-B5D34E1AA8EC}" type="presOf" srcId="{0EA1C4FD-0D83-474D-932F-515852BE76FE}" destId="{63C0FDE6-3EB3-C042-8D45-13E1EC048DE9}" srcOrd="0" destOrd="0" presId="urn:microsoft.com/office/officeart/2005/8/layout/cycle3"/>
    <dgm:cxn modelId="{9C6B386E-1B4D-0D44-AC1F-635548B299DE}" type="presOf" srcId="{47106810-59F9-4007-A490-4B16A571D3AD}" destId="{81ADF848-D052-114C-B293-7A57DA002A08}" srcOrd="0" destOrd="0" presId="urn:microsoft.com/office/officeart/2005/8/layout/cycle3"/>
    <dgm:cxn modelId="{061CAD71-8F4B-4388-8886-C51D61D120D0}" srcId="{FCCB692A-F855-4993-9E16-39C3E0174FC4}" destId="{F1B7B85B-562B-4DEF-A1E0-C0E84D58E56D}" srcOrd="6" destOrd="0" parTransId="{F560785C-881C-474A-AD3F-7793A73A6238}" sibTransId="{1D8B4067-3E6C-4075-9CF2-AF988A42E178}"/>
    <dgm:cxn modelId="{45DE4579-1091-C04D-9931-8FF7218C05A5}" type="presOf" srcId="{F7A54DAD-33A3-4C72-86C0-ED4825C2E8AD}" destId="{381B312B-7FBA-D54A-8704-F519F61FB4E0}" srcOrd="0" destOrd="0" presId="urn:microsoft.com/office/officeart/2005/8/layout/cycle3"/>
    <dgm:cxn modelId="{308E4E9F-7394-4ECB-A993-4EE31F87C774}" srcId="{FCCB692A-F855-4993-9E16-39C3E0174FC4}" destId="{F7A54DAD-33A3-4C72-86C0-ED4825C2E8AD}" srcOrd="5" destOrd="0" parTransId="{FEECBCAD-B6BB-4983-A59B-32C9765A702D}" sibTransId="{A32423F4-C659-419D-A90D-6D2ED67D3021}"/>
    <dgm:cxn modelId="{46EFAACA-CA56-40FB-86EB-41BA2BB38483}" srcId="{FCCB692A-F855-4993-9E16-39C3E0174FC4}" destId="{0EA1C4FD-0D83-474D-932F-515852BE76FE}" srcOrd="2" destOrd="0" parTransId="{F0D14A72-453B-4EFB-A94B-BFF8B9A8D8EF}" sibTransId="{8B91CD86-518F-4F1A-8B7C-74979D2C5287}"/>
    <dgm:cxn modelId="{CC8037CB-A76F-4A0F-A158-B21DCEBACB33}" srcId="{FCCB692A-F855-4993-9E16-39C3E0174FC4}" destId="{4F3F8DDC-7069-43FF-94A8-4EA2278D8791}" srcOrd="3" destOrd="0" parTransId="{878BF508-BE81-4432-B7B8-D09B396C996A}" sibTransId="{98E253C0-3FA3-4E1E-B4E2-C59271E3E58B}"/>
    <dgm:cxn modelId="{AC7C4CD9-C05B-42C3-8694-B5862E0F0D93}" srcId="{FCCB692A-F855-4993-9E16-39C3E0174FC4}" destId="{D6F61EC8-BC02-4B9C-B93C-20F071679336}" srcOrd="7" destOrd="0" parTransId="{1CE0E41C-3A37-4904-A29D-6899F1C335CA}" sibTransId="{7CFADFC7-B7CF-4087-B3A0-02D115250713}"/>
    <dgm:cxn modelId="{D6712CDB-B16E-2543-ABAC-53D632663AA8}" type="presOf" srcId="{4F3F8DDC-7069-43FF-94A8-4EA2278D8791}" destId="{C64E57FE-C342-AC47-923A-5F211C5FD498}" srcOrd="0" destOrd="0" presId="urn:microsoft.com/office/officeart/2005/8/layout/cycle3"/>
    <dgm:cxn modelId="{393997DD-B5CF-2641-8D85-545364859A9C}" type="presOf" srcId="{FCCB692A-F855-4993-9E16-39C3E0174FC4}" destId="{9CFB36E1-F548-FB43-A5EF-A95F4B7C19D2}" srcOrd="0" destOrd="0" presId="urn:microsoft.com/office/officeart/2005/8/layout/cycle3"/>
    <dgm:cxn modelId="{331A36F9-8C09-4DAE-AA45-EE4C7F0620CA}" srcId="{FCCB692A-F855-4993-9E16-39C3E0174FC4}" destId="{930EA399-7991-4E47-BCD5-15D4A1A0B7C0}" srcOrd="4" destOrd="0" parTransId="{AFB1E4CF-3F82-49EB-968B-53BC28FAAD9A}" sibTransId="{01C973D9-884F-40EA-8129-5109573B1993}"/>
    <dgm:cxn modelId="{2370E7FF-D9F6-974F-96C0-6E58CBBBAD05}" type="presOf" srcId="{930EA399-7991-4E47-BCD5-15D4A1A0B7C0}" destId="{42FA686A-8C46-D344-9960-45A683562645}" srcOrd="0" destOrd="0" presId="urn:microsoft.com/office/officeart/2005/8/layout/cycle3"/>
    <dgm:cxn modelId="{64A4709A-5A06-EB43-9AA8-2A61F90266BE}" type="presParOf" srcId="{9CFB36E1-F548-FB43-A5EF-A95F4B7C19D2}" destId="{2408ACBA-A53E-B24D-86F0-C797E6C78D94}" srcOrd="0" destOrd="0" presId="urn:microsoft.com/office/officeart/2005/8/layout/cycle3"/>
    <dgm:cxn modelId="{632BC2CA-DD0A-5247-AC27-99E3324A7F5B}" type="presParOf" srcId="{2408ACBA-A53E-B24D-86F0-C797E6C78D94}" destId="{EA668964-6817-3348-A7D7-3979BE3DE587}" srcOrd="0" destOrd="0" presId="urn:microsoft.com/office/officeart/2005/8/layout/cycle3"/>
    <dgm:cxn modelId="{F26FCCF0-7677-1A48-9AB8-28CFA41F8FDC}" type="presParOf" srcId="{2408ACBA-A53E-B24D-86F0-C797E6C78D94}" destId="{5D8C7E98-7F49-6845-AE23-85BD2ADAEA81}" srcOrd="1" destOrd="0" presId="urn:microsoft.com/office/officeart/2005/8/layout/cycle3"/>
    <dgm:cxn modelId="{268C5BEC-312F-2142-9646-84B539D4CC79}" type="presParOf" srcId="{2408ACBA-A53E-B24D-86F0-C797E6C78D94}" destId="{95A8F928-8D2A-8E48-B227-22E9F8CCCAD4}" srcOrd="2" destOrd="0" presId="urn:microsoft.com/office/officeart/2005/8/layout/cycle3"/>
    <dgm:cxn modelId="{B3F27507-4E1A-B34D-B25F-EFD16C1D9891}" type="presParOf" srcId="{2408ACBA-A53E-B24D-86F0-C797E6C78D94}" destId="{63C0FDE6-3EB3-C042-8D45-13E1EC048DE9}" srcOrd="3" destOrd="0" presId="urn:microsoft.com/office/officeart/2005/8/layout/cycle3"/>
    <dgm:cxn modelId="{D2B78E53-AAE5-EB40-92DE-F062D3641DF2}" type="presParOf" srcId="{2408ACBA-A53E-B24D-86F0-C797E6C78D94}" destId="{C64E57FE-C342-AC47-923A-5F211C5FD498}" srcOrd="4" destOrd="0" presId="urn:microsoft.com/office/officeart/2005/8/layout/cycle3"/>
    <dgm:cxn modelId="{3DB2AB4D-0057-1A46-91E0-E113479422F6}" type="presParOf" srcId="{2408ACBA-A53E-B24D-86F0-C797E6C78D94}" destId="{42FA686A-8C46-D344-9960-45A683562645}" srcOrd="5" destOrd="0" presId="urn:microsoft.com/office/officeart/2005/8/layout/cycle3"/>
    <dgm:cxn modelId="{37004468-E2B1-1E4A-BBCD-1A19953A1C37}" type="presParOf" srcId="{2408ACBA-A53E-B24D-86F0-C797E6C78D94}" destId="{381B312B-7FBA-D54A-8704-F519F61FB4E0}" srcOrd="6" destOrd="0" presId="urn:microsoft.com/office/officeart/2005/8/layout/cycle3"/>
    <dgm:cxn modelId="{78819E8D-3DF5-7B45-99D5-DAFF1D4E9790}" type="presParOf" srcId="{2408ACBA-A53E-B24D-86F0-C797E6C78D94}" destId="{F7FCFCB0-5930-2F4E-8D60-134E1E90319A}" srcOrd="7" destOrd="0" presId="urn:microsoft.com/office/officeart/2005/8/layout/cycle3"/>
    <dgm:cxn modelId="{03F49FDC-CF5B-3844-9E9A-8CEB2626323C}" type="presParOf" srcId="{2408ACBA-A53E-B24D-86F0-C797E6C78D94}" destId="{04C74085-7D6A-984D-9C12-B6E51B922F75}" srcOrd="8" destOrd="0" presId="urn:microsoft.com/office/officeart/2005/8/layout/cycle3"/>
    <dgm:cxn modelId="{AB2C4208-6D53-EE48-B5A4-F52904C1CC52}" type="presParOf" srcId="{2408ACBA-A53E-B24D-86F0-C797E6C78D94}" destId="{81ADF848-D052-114C-B293-7A57DA002A08}" srcOrd="9"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FED8B5-0F2B-4C2F-A387-426F0D46DEFA}"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5F73515-23A7-400A-9EE2-F98830847DCC}">
      <dgm:prSet/>
      <dgm:spPr/>
      <dgm:t>
        <a:bodyPr/>
        <a:lstStyle/>
        <a:p>
          <a:pPr>
            <a:defRPr cap="all"/>
          </a:pPr>
          <a:r>
            <a:rPr lang="en-US"/>
            <a:t>Snapshot in time</a:t>
          </a:r>
        </a:p>
      </dgm:t>
    </dgm:pt>
    <dgm:pt modelId="{610CCF1C-379A-47EE-9B93-CB000E19E398}" type="parTrans" cxnId="{2BB68877-3F54-4CF0-B1BB-67C7C8C88275}">
      <dgm:prSet/>
      <dgm:spPr/>
      <dgm:t>
        <a:bodyPr/>
        <a:lstStyle/>
        <a:p>
          <a:endParaRPr lang="en-US"/>
        </a:p>
      </dgm:t>
    </dgm:pt>
    <dgm:pt modelId="{691E838D-75CC-4FA2-9852-C985BFB1FDFE}" type="sibTrans" cxnId="{2BB68877-3F54-4CF0-B1BB-67C7C8C88275}">
      <dgm:prSet/>
      <dgm:spPr/>
      <dgm:t>
        <a:bodyPr/>
        <a:lstStyle/>
        <a:p>
          <a:endParaRPr lang="en-US"/>
        </a:p>
      </dgm:t>
    </dgm:pt>
    <dgm:pt modelId="{887FCF2B-5262-4A3C-9E67-7562AD95DD8D}">
      <dgm:prSet/>
      <dgm:spPr/>
      <dgm:t>
        <a:bodyPr/>
        <a:lstStyle/>
        <a:p>
          <a:pPr>
            <a:defRPr cap="all"/>
          </a:pPr>
          <a:r>
            <a:rPr lang="en-US"/>
            <a:t>Not a time series validation</a:t>
          </a:r>
        </a:p>
      </dgm:t>
    </dgm:pt>
    <dgm:pt modelId="{C2D597E4-BC9F-4E71-B6E9-5E211214DD82}" type="parTrans" cxnId="{BD07A6F8-CBFF-4F72-B163-2002395CA06A}">
      <dgm:prSet/>
      <dgm:spPr/>
      <dgm:t>
        <a:bodyPr/>
        <a:lstStyle/>
        <a:p>
          <a:endParaRPr lang="en-US"/>
        </a:p>
      </dgm:t>
    </dgm:pt>
    <dgm:pt modelId="{62D5540A-243F-49EE-B473-A7EC17EFA7F6}" type="sibTrans" cxnId="{BD07A6F8-CBFF-4F72-B163-2002395CA06A}">
      <dgm:prSet/>
      <dgm:spPr/>
      <dgm:t>
        <a:bodyPr/>
        <a:lstStyle/>
        <a:p>
          <a:endParaRPr lang="en-US"/>
        </a:p>
      </dgm:t>
    </dgm:pt>
    <dgm:pt modelId="{1956E92E-61E0-4AFB-9035-2A4CF7798DD5}">
      <dgm:prSet/>
      <dgm:spPr/>
      <dgm:t>
        <a:bodyPr/>
        <a:lstStyle/>
        <a:p>
          <a:pPr>
            <a:defRPr cap="all"/>
          </a:pPr>
          <a:r>
            <a:rPr lang="en-US"/>
            <a:t>Static inventory dynamics</a:t>
          </a:r>
        </a:p>
      </dgm:t>
    </dgm:pt>
    <dgm:pt modelId="{80DA82A3-2A1A-41B2-A7B7-06510E90EB69}" type="parTrans" cxnId="{EFC1AD1D-3C6C-464B-838A-634D26EAF894}">
      <dgm:prSet/>
      <dgm:spPr/>
      <dgm:t>
        <a:bodyPr/>
        <a:lstStyle/>
        <a:p>
          <a:endParaRPr lang="en-US"/>
        </a:p>
      </dgm:t>
    </dgm:pt>
    <dgm:pt modelId="{0DB9B518-493F-45D9-BDF7-DB772C180B7C}" type="sibTrans" cxnId="{EFC1AD1D-3C6C-464B-838A-634D26EAF894}">
      <dgm:prSet/>
      <dgm:spPr/>
      <dgm:t>
        <a:bodyPr/>
        <a:lstStyle/>
        <a:p>
          <a:endParaRPr lang="en-US"/>
        </a:p>
      </dgm:t>
    </dgm:pt>
    <dgm:pt modelId="{06EA5ADB-0A6F-4F7A-A17A-F88C0613D403}">
      <dgm:prSet/>
      <dgm:spPr/>
      <dgm:t>
        <a:bodyPr/>
        <a:lstStyle/>
        <a:p>
          <a:pPr>
            <a:defRPr cap="all"/>
          </a:pPr>
          <a:r>
            <a:rPr lang="en-US"/>
            <a:t>Supplier lead time are not the causal drivers</a:t>
          </a:r>
        </a:p>
      </dgm:t>
    </dgm:pt>
    <dgm:pt modelId="{D5413689-2C38-44E2-94CA-B561FCB1026B}" type="parTrans" cxnId="{B89BB730-B02E-466F-8DCA-504DED9DB81C}">
      <dgm:prSet/>
      <dgm:spPr/>
      <dgm:t>
        <a:bodyPr/>
        <a:lstStyle/>
        <a:p>
          <a:endParaRPr lang="en-US"/>
        </a:p>
      </dgm:t>
    </dgm:pt>
    <dgm:pt modelId="{8BA903EF-3B7C-437F-B57B-B0C72845D0D7}" type="sibTrans" cxnId="{B89BB730-B02E-466F-8DCA-504DED9DB81C}">
      <dgm:prSet/>
      <dgm:spPr/>
      <dgm:t>
        <a:bodyPr/>
        <a:lstStyle/>
        <a:p>
          <a:endParaRPr lang="en-US"/>
        </a:p>
      </dgm:t>
    </dgm:pt>
    <dgm:pt modelId="{5712D7C8-1859-4162-BE22-86D436F303FA}" type="pres">
      <dgm:prSet presAssocID="{DEFED8B5-0F2B-4C2F-A387-426F0D46DEFA}" presName="root" presStyleCnt="0">
        <dgm:presLayoutVars>
          <dgm:dir/>
          <dgm:resizeHandles val="exact"/>
        </dgm:presLayoutVars>
      </dgm:prSet>
      <dgm:spPr/>
    </dgm:pt>
    <dgm:pt modelId="{9AFFE701-D6CA-42E7-A7C7-C33358FDF9F0}" type="pres">
      <dgm:prSet presAssocID="{F5F73515-23A7-400A-9EE2-F98830847DCC}" presName="compNode" presStyleCnt="0"/>
      <dgm:spPr/>
    </dgm:pt>
    <dgm:pt modelId="{474B529D-5A86-488B-A423-7E6DA0BF1AF3}" type="pres">
      <dgm:prSet presAssocID="{F5F73515-23A7-400A-9EE2-F98830847DCC}" presName="iconBgRect" presStyleLbl="bgShp" presStyleIdx="0" presStyleCnt="4"/>
      <dgm:spPr/>
    </dgm:pt>
    <dgm:pt modelId="{F845D635-C689-46D0-A723-8DD8DBBF91B7}" type="pres">
      <dgm:prSet presAssocID="{F5F73515-23A7-400A-9EE2-F98830847DC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mera"/>
        </a:ext>
      </dgm:extLst>
    </dgm:pt>
    <dgm:pt modelId="{4DEA2C66-957D-4237-8B1E-1F4981AB53FD}" type="pres">
      <dgm:prSet presAssocID="{F5F73515-23A7-400A-9EE2-F98830847DCC}" presName="spaceRect" presStyleCnt="0"/>
      <dgm:spPr/>
    </dgm:pt>
    <dgm:pt modelId="{A6D49CFB-4485-45EE-81B6-BDED7775A805}" type="pres">
      <dgm:prSet presAssocID="{F5F73515-23A7-400A-9EE2-F98830847DCC}" presName="textRect" presStyleLbl="revTx" presStyleIdx="0" presStyleCnt="4">
        <dgm:presLayoutVars>
          <dgm:chMax val="1"/>
          <dgm:chPref val="1"/>
        </dgm:presLayoutVars>
      </dgm:prSet>
      <dgm:spPr/>
    </dgm:pt>
    <dgm:pt modelId="{E3048532-20DE-48C9-820C-C00AED13D3FE}" type="pres">
      <dgm:prSet presAssocID="{691E838D-75CC-4FA2-9852-C985BFB1FDFE}" presName="sibTrans" presStyleCnt="0"/>
      <dgm:spPr/>
    </dgm:pt>
    <dgm:pt modelId="{CC77BC8C-6BED-4200-9AD2-33385DE42C89}" type="pres">
      <dgm:prSet presAssocID="{887FCF2B-5262-4A3C-9E67-7562AD95DD8D}" presName="compNode" presStyleCnt="0"/>
      <dgm:spPr/>
    </dgm:pt>
    <dgm:pt modelId="{8EFEBEB1-84B8-4223-81B6-255480267813}" type="pres">
      <dgm:prSet presAssocID="{887FCF2B-5262-4A3C-9E67-7562AD95DD8D}" presName="iconBgRect" presStyleLbl="bgShp" presStyleIdx="1" presStyleCnt="4"/>
      <dgm:spPr/>
    </dgm:pt>
    <dgm:pt modelId="{9E564422-C1DF-49ED-AB5D-9BFDC3BB6071}" type="pres">
      <dgm:prSet presAssocID="{887FCF2B-5262-4A3C-9E67-7562AD95DD8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2F4E0DF3-F8A3-4D43-9807-781E829C904A}" type="pres">
      <dgm:prSet presAssocID="{887FCF2B-5262-4A3C-9E67-7562AD95DD8D}" presName="spaceRect" presStyleCnt="0"/>
      <dgm:spPr/>
    </dgm:pt>
    <dgm:pt modelId="{DD5F6964-C3F2-4E31-8889-3F6A0F7426BA}" type="pres">
      <dgm:prSet presAssocID="{887FCF2B-5262-4A3C-9E67-7562AD95DD8D}" presName="textRect" presStyleLbl="revTx" presStyleIdx="1" presStyleCnt="4">
        <dgm:presLayoutVars>
          <dgm:chMax val="1"/>
          <dgm:chPref val="1"/>
        </dgm:presLayoutVars>
      </dgm:prSet>
      <dgm:spPr/>
    </dgm:pt>
    <dgm:pt modelId="{78A70B18-6D9E-4212-BDE4-9D030CFD17DA}" type="pres">
      <dgm:prSet presAssocID="{62D5540A-243F-49EE-B473-A7EC17EFA7F6}" presName="sibTrans" presStyleCnt="0"/>
      <dgm:spPr/>
    </dgm:pt>
    <dgm:pt modelId="{CA3D9B00-87A7-43E7-A2FC-BA144EFDC4CD}" type="pres">
      <dgm:prSet presAssocID="{1956E92E-61E0-4AFB-9035-2A4CF7798DD5}" presName="compNode" presStyleCnt="0"/>
      <dgm:spPr/>
    </dgm:pt>
    <dgm:pt modelId="{5FCDB2A5-4A8E-4E6A-8C8A-0ADC62F8FD1D}" type="pres">
      <dgm:prSet presAssocID="{1956E92E-61E0-4AFB-9035-2A4CF7798DD5}" presName="iconBgRect" presStyleLbl="bgShp" presStyleIdx="2" presStyleCnt="4"/>
      <dgm:spPr/>
    </dgm:pt>
    <dgm:pt modelId="{3835F4E3-D75D-4FCB-92FF-A48A00B0A97E}" type="pres">
      <dgm:prSet presAssocID="{1956E92E-61E0-4AFB-9035-2A4CF7798DD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7BD89E4B-D921-4984-8518-D02C7A152366}" type="pres">
      <dgm:prSet presAssocID="{1956E92E-61E0-4AFB-9035-2A4CF7798DD5}" presName="spaceRect" presStyleCnt="0"/>
      <dgm:spPr/>
    </dgm:pt>
    <dgm:pt modelId="{C7898B9A-5955-4FB8-B1A8-BFBD36BE9561}" type="pres">
      <dgm:prSet presAssocID="{1956E92E-61E0-4AFB-9035-2A4CF7798DD5}" presName="textRect" presStyleLbl="revTx" presStyleIdx="2" presStyleCnt="4">
        <dgm:presLayoutVars>
          <dgm:chMax val="1"/>
          <dgm:chPref val="1"/>
        </dgm:presLayoutVars>
      </dgm:prSet>
      <dgm:spPr/>
    </dgm:pt>
    <dgm:pt modelId="{70FBE1D2-754D-430D-B7DE-7C3FA540483D}" type="pres">
      <dgm:prSet presAssocID="{0DB9B518-493F-45D9-BDF7-DB772C180B7C}" presName="sibTrans" presStyleCnt="0"/>
      <dgm:spPr/>
    </dgm:pt>
    <dgm:pt modelId="{FD112045-2F9E-463D-A5F5-DA9251F1F3ED}" type="pres">
      <dgm:prSet presAssocID="{06EA5ADB-0A6F-4F7A-A17A-F88C0613D403}" presName="compNode" presStyleCnt="0"/>
      <dgm:spPr/>
    </dgm:pt>
    <dgm:pt modelId="{F6A030E1-1037-4AF1-8D27-2885BCECA265}" type="pres">
      <dgm:prSet presAssocID="{06EA5ADB-0A6F-4F7A-A17A-F88C0613D403}" presName="iconBgRect" presStyleLbl="bgShp" presStyleIdx="3" presStyleCnt="4"/>
      <dgm:spPr/>
    </dgm:pt>
    <dgm:pt modelId="{8A53DF4D-56AF-4DDC-BA23-A9754CFC4C9D}" type="pres">
      <dgm:prSet presAssocID="{06EA5ADB-0A6F-4F7A-A17A-F88C0613D40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FBFB0CBE-857A-410C-AC18-922B66675E87}" type="pres">
      <dgm:prSet presAssocID="{06EA5ADB-0A6F-4F7A-A17A-F88C0613D403}" presName="spaceRect" presStyleCnt="0"/>
      <dgm:spPr/>
    </dgm:pt>
    <dgm:pt modelId="{BEF9DDCE-1279-42E7-B777-931CCC8C190C}" type="pres">
      <dgm:prSet presAssocID="{06EA5ADB-0A6F-4F7A-A17A-F88C0613D403}" presName="textRect" presStyleLbl="revTx" presStyleIdx="3" presStyleCnt="4">
        <dgm:presLayoutVars>
          <dgm:chMax val="1"/>
          <dgm:chPref val="1"/>
        </dgm:presLayoutVars>
      </dgm:prSet>
      <dgm:spPr/>
    </dgm:pt>
  </dgm:ptLst>
  <dgm:cxnLst>
    <dgm:cxn modelId="{EFC1AD1D-3C6C-464B-838A-634D26EAF894}" srcId="{DEFED8B5-0F2B-4C2F-A387-426F0D46DEFA}" destId="{1956E92E-61E0-4AFB-9035-2A4CF7798DD5}" srcOrd="2" destOrd="0" parTransId="{80DA82A3-2A1A-41B2-A7B7-06510E90EB69}" sibTransId="{0DB9B518-493F-45D9-BDF7-DB772C180B7C}"/>
    <dgm:cxn modelId="{B89BB730-B02E-466F-8DCA-504DED9DB81C}" srcId="{DEFED8B5-0F2B-4C2F-A387-426F0D46DEFA}" destId="{06EA5ADB-0A6F-4F7A-A17A-F88C0613D403}" srcOrd="3" destOrd="0" parTransId="{D5413689-2C38-44E2-94CA-B561FCB1026B}" sibTransId="{8BA903EF-3B7C-437F-B57B-B0C72845D0D7}"/>
    <dgm:cxn modelId="{2BB68877-3F54-4CF0-B1BB-67C7C8C88275}" srcId="{DEFED8B5-0F2B-4C2F-A387-426F0D46DEFA}" destId="{F5F73515-23A7-400A-9EE2-F98830847DCC}" srcOrd="0" destOrd="0" parTransId="{610CCF1C-379A-47EE-9B93-CB000E19E398}" sibTransId="{691E838D-75CC-4FA2-9852-C985BFB1FDFE}"/>
    <dgm:cxn modelId="{6CE3208F-E4A7-4988-AED4-4D26F5EF3395}" type="presOf" srcId="{F5F73515-23A7-400A-9EE2-F98830847DCC}" destId="{A6D49CFB-4485-45EE-81B6-BDED7775A805}" srcOrd="0" destOrd="0" presId="urn:microsoft.com/office/officeart/2018/5/layout/IconCircleLabelList"/>
    <dgm:cxn modelId="{2D99A098-B2F1-4E0C-8BC0-491141101A8E}" type="presOf" srcId="{DEFED8B5-0F2B-4C2F-A387-426F0D46DEFA}" destId="{5712D7C8-1859-4162-BE22-86D436F303FA}" srcOrd="0" destOrd="0" presId="urn:microsoft.com/office/officeart/2018/5/layout/IconCircleLabelList"/>
    <dgm:cxn modelId="{A7A266B9-5FAE-4512-9B06-C9D9DB77BC39}" type="presOf" srcId="{887FCF2B-5262-4A3C-9E67-7562AD95DD8D}" destId="{DD5F6964-C3F2-4E31-8889-3F6A0F7426BA}" srcOrd="0" destOrd="0" presId="urn:microsoft.com/office/officeart/2018/5/layout/IconCircleLabelList"/>
    <dgm:cxn modelId="{C670AED0-1B7A-48ED-A54F-FBC543F39049}" type="presOf" srcId="{06EA5ADB-0A6F-4F7A-A17A-F88C0613D403}" destId="{BEF9DDCE-1279-42E7-B777-931CCC8C190C}" srcOrd="0" destOrd="0" presId="urn:microsoft.com/office/officeart/2018/5/layout/IconCircleLabelList"/>
    <dgm:cxn modelId="{BD07A6F8-CBFF-4F72-B163-2002395CA06A}" srcId="{DEFED8B5-0F2B-4C2F-A387-426F0D46DEFA}" destId="{887FCF2B-5262-4A3C-9E67-7562AD95DD8D}" srcOrd="1" destOrd="0" parTransId="{C2D597E4-BC9F-4E71-B6E9-5E211214DD82}" sibTransId="{62D5540A-243F-49EE-B473-A7EC17EFA7F6}"/>
    <dgm:cxn modelId="{615BAEFF-7AC9-47AC-8C56-614ED58E56C9}" type="presOf" srcId="{1956E92E-61E0-4AFB-9035-2A4CF7798DD5}" destId="{C7898B9A-5955-4FB8-B1A8-BFBD36BE9561}" srcOrd="0" destOrd="0" presId="urn:microsoft.com/office/officeart/2018/5/layout/IconCircleLabelList"/>
    <dgm:cxn modelId="{5F5F3A0A-737D-4E56-874D-0EB08F0582A8}" type="presParOf" srcId="{5712D7C8-1859-4162-BE22-86D436F303FA}" destId="{9AFFE701-D6CA-42E7-A7C7-C33358FDF9F0}" srcOrd="0" destOrd="0" presId="urn:microsoft.com/office/officeart/2018/5/layout/IconCircleLabelList"/>
    <dgm:cxn modelId="{B7271BCF-8867-4BF4-ABAD-8CB1F8082229}" type="presParOf" srcId="{9AFFE701-D6CA-42E7-A7C7-C33358FDF9F0}" destId="{474B529D-5A86-488B-A423-7E6DA0BF1AF3}" srcOrd="0" destOrd="0" presId="urn:microsoft.com/office/officeart/2018/5/layout/IconCircleLabelList"/>
    <dgm:cxn modelId="{F1CE0BE0-B059-4C87-A8D0-F27C9F1F978C}" type="presParOf" srcId="{9AFFE701-D6CA-42E7-A7C7-C33358FDF9F0}" destId="{F845D635-C689-46D0-A723-8DD8DBBF91B7}" srcOrd="1" destOrd="0" presId="urn:microsoft.com/office/officeart/2018/5/layout/IconCircleLabelList"/>
    <dgm:cxn modelId="{D6037911-2A33-416E-85FC-61FBD9AC1415}" type="presParOf" srcId="{9AFFE701-D6CA-42E7-A7C7-C33358FDF9F0}" destId="{4DEA2C66-957D-4237-8B1E-1F4981AB53FD}" srcOrd="2" destOrd="0" presId="urn:microsoft.com/office/officeart/2018/5/layout/IconCircleLabelList"/>
    <dgm:cxn modelId="{0A01E37B-FA10-4026-B9EC-A2A0624A8262}" type="presParOf" srcId="{9AFFE701-D6CA-42E7-A7C7-C33358FDF9F0}" destId="{A6D49CFB-4485-45EE-81B6-BDED7775A805}" srcOrd="3" destOrd="0" presId="urn:microsoft.com/office/officeart/2018/5/layout/IconCircleLabelList"/>
    <dgm:cxn modelId="{E6811D18-B0D6-4DF6-8371-B7A3E7A40245}" type="presParOf" srcId="{5712D7C8-1859-4162-BE22-86D436F303FA}" destId="{E3048532-20DE-48C9-820C-C00AED13D3FE}" srcOrd="1" destOrd="0" presId="urn:microsoft.com/office/officeart/2018/5/layout/IconCircleLabelList"/>
    <dgm:cxn modelId="{23D30DFC-0C38-4838-AD5B-34EE9AB69415}" type="presParOf" srcId="{5712D7C8-1859-4162-BE22-86D436F303FA}" destId="{CC77BC8C-6BED-4200-9AD2-33385DE42C89}" srcOrd="2" destOrd="0" presId="urn:microsoft.com/office/officeart/2018/5/layout/IconCircleLabelList"/>
    <dgm:cxn modelId="{9FB1C7C8-F5AC-4945-8D93-C27EDFA2236C}" type="presParOf" srcId="{CC77BC8C-6BED-4200-9AD2-33385DE42C89}" destId="{8EFEBEB1-84B8-4223-81B6-255480267813}" srcOrd="0" destOrd="0" presId="urn:microsoft.com/office/officeart/2018/5/layout/IconCircleLabelList"/>
    <dgm:cxn modelId="{8ECD692A-0621-456D-B72E-564C7E60F471}" type="presParOf" srcId="{CC77BC8C-6BED-4200-9AD2-33385DE42C89}" destId="{9E564422-C1DF-49ED-AB5D-9BFDC3BB6071}" srcOrd="1" destOrd="0" presId="urn:microsoft.com/office/officeart/2018/5/layout/IconCircleLabelList"/>
    <dgm:cxn modelId="{B526AE04-C9E1-4FBE-BC54-C021E94B54FA}" type="presParOf" srcId="{CC77BC8C-6BED-4200-9AD2-33385DE42C89}" destId="{2F4E0DF3-F8A3-4D43-9807-781E829C904A}" srcOrd="2" destOrd="0" presId="urn:microsoft.com/office/officeart/2018/5/layout/IconCircleLabelList"/>
    <dgm:cxn modelId="{FEFF2B19-CD79-48DF-93CD-3D59CFEFE8E5}" type="presParOf" srcId="{CC77BC8C-6BED-4200-9AD2-33385DE42C89}" destId="{DD5F6964-C3F2-4E31-8889-3F6A0F7426BA}" srcOrd="3" destOrd="0" presId="urn:microsoft.com/office/officeart/2018/5/layout/IconCircleLabelList"/>
    <dgm:cxn modelId="{F3AE6160-374F-496C-B69F-2962EFC8A17F}" type="presParOf" srcId="{5712D7C8-1859-4162-BE22-86D436F303FA}" destId="{78A70B18-6D9E-4212-BDE4-9D030CFD17DA}" srcOrd="3" destOrd="0" presId="urn:microsoft.com/office/officeart/2018/5/layout/IconCircleLabelList"/>
    <dgm:cxn modelId="{24D4D67E-E776-40AD-A56F-144F60782059}" type="presParOf" srcId="{5712D7C8-1859-4162-BE22-86D436F303FA}" destId="{CA3D9B00-87A7-43E7-A2FC-BA144EFDC4CD}" srcOrd="4" destOrd="0" presId="urn:microsoft.com/office/officeart/2018/5/layout/IconCircleLabelList"/>
    <dgm:cxn modelId="{F3EE5A4D-3FA4-4A0E-AA6A-FD50A167BA3A}" type="presParOf" srcId="{CA3D9B00-87A7-43E7-A2FC-BA144EFDC4CD}" destId="{5FCDB2A5-4A8E-4E6A-8C8A-0ADC62F8FD1D}" srcOrd="0" destOrd="0" presId="urn:microsoft.com/office/officeart/2018/5/layout/IconCircleLabelList"/>
    <dgm:cxn modelId="{F0A8DF35-AC59-4146-AABD-05D6911055DA}" type="presParOf" srcId="{CA3D9B00-87A7-43E7-A2FC-BA144EFDC4CD}" destId="{3835F4E3-D75D-4FCB-92FF-A48A00B0A97E}" srcOrd="1" destOrd="0" presId="urn:microsoft.com/office/officeart/2018/5/layout/IconCircleLabelList"/>
    <dgm:cxn modelId="{A751CCFA-7A5C-4D45-B855-DFA89C9D333D}" type="presParOf" srcId="{CA3D9B00-87A7-43E7-A2FC-BA144EFDC4CD}" destId="{7BD89E4B-D921-4984-8518-D02C7A152366}" srcOrd="2" destOrd="0" presId="urn:microsoft.com/office/officeart/2018/5/layout/IconCircleLabelList"/>
    <dgm:cxn modelId="{4CA1A4AE-0549-4B4C-8820-5FAD9A5D93A3}" type="presParOf" srcId="{CA3D9B00-87A7-43E7-A2FC-BA144EFDC4CD}" destId="{C7898B9A-5955-4FB8-B1A8-BFBD36BE9561}" srcOrd="3" destOrd="0" presId="urn:microsoft.com/office/officeart/2018/5/layout/IconCircleLabelList"/>
    <dgm:cxn modelId="{E28FA9DD-8648-4E16-AF5D-30B609FE3353}" type="presParOf" srcId="{5712D7C8-1859-4162-BE22-86D436F303FA}" destId="{70FBE1D2-754D-430D-B7DE-7C3FA540483D}" srcOrd="5" destOrd="0" presId="urn:microsoft.com/office/officeart/2018/5/layout/IconCircleLabelList"/>
    <dgm:cxn modelId="{860145A4-4171-442C-A535-F7E703140ECB}" type="presParOf" srcId="{5712D7C8-1859-4162-BE22-86D436F303FA}" destId="{FD112045-2F9E-463D-A5F5-DA9251F1F3ED}" srcOrd="6" destOrd="0" presId="urn:microsoft.com/office/officeart/2018/5/layout/IconCircleLabelList"/>
    <dgm:cxn modelId="{A7795706-06B6-4BA6-9772-89A3C9F51D4D}" type="presParOf" srcId="{FD112045-2F9E-463D-A5F5-DA9251F1F3ED}" destId="{F6A030E1-1037-4AF1-8D27-2885BCECA265}" srcOrd="0" destOrd="0" presId="urn:microsoft.com/office/officeart/2018/5/layout/IconCircleLabelList"/>
    <dgm:cxn modelId="{6A4A37D9-95A6-4FE0-92E4-D73CC6F18C3A}" type="presParOf" srcId="{FD112045-2F9E-463D-A5F5-DA9251F1F3ED}" destId="{8A53DF4D-56AF-4DDC-BA23-A9754CFC4C9D}" srcOrd="1" destOrd="0" presId="urn:microsoft.com/office/officeart/2018/5/layout/IconCircleLabelList"/>
    <dgm:cxn modelId="{47B0D535-97BF-4257-B6E2-4FE8F26C96EE}" type="presParOf" srcId="{FD112045-2F9E-463D-A5F5-DA9251F1F3ED}" destId="{FBFB0CBE-857A-410C-AC18-922B66675E87}" srcOrd="2" destOrd="0" presId="urn:microsoft.com/office/officeart/2018/5/layout/IconCircleLabelList"/>
    <dgm:cxn modelId="{3D56E1C0-9948-4F5B-8EC9-4DDEF672AA96}" type="presParOf" srcId="{FD112045-2F9E-463D-A5F5-DA9251F1F3ED}" destId="{BEF9DDCE-1279-42E7-B777-931CCC8C190C}"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D65D85-50EC-4626-B73E-17F8F281F93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BE9EA81-B1C4-421D-BE89-E1685BDEF1BE}">
      <dgm:prSet/>
      <dgm:spPr/>
      <dgm:t>
        <a:bodyPr/>
        <a:lstStyle/>
        <a:p>
          <a:pPr>
            <a:lnSpc>
              <a:spcPct val="100000"/>
            </a:lnSpc>
          </a:pPr>
          <a:r>
            <a:rPr lang="en-CA"/>
            <a:t>reorder point settings do not reflect observed daily demand patterns in the dataset </a:t>
          </a:r>
          <a:endParaRPr lang="en-US"/>
        </a:p>
      </dgm:t>
    </dgm:pt>
    <dgm:pt modelId="{44D2A8CD-36FC-4FC3-9A5E-7CC7504B1126}" type="parTrans" cxnId="{1BB049B2-A24E-4DBC-90BE-51B3C1BC0026}">
      <dgm:prSet/>
      <dgm:spPr/>
      <dgm:t>
        <a:bodyPr/>
        <a:lstStyle/>
        <a:p>
          <a:endParaRPr lang="en-US"/>
        </a:p>
      </dgm:t>
    </dgm:pt>
    <dgm:pt modelId="{58136EA1-5E12-4282-B5F9-F2BAAD4F81B8}" type="sibTrans" cxnId="{1BB049B2-A24E-4DBC-90BE-51B3C1BC0026}">
      <dgm:prSet/>
      <dgm:spPr/>
      <dgm:t>
        <a:bodyPr/>
        <a:lstStyle/>
        <a:p>
          <a:endParaRPr lang="en-US"/>
        </a:p>
      </dgm:t>
    </dgm:pt>
    <dgm:pt modelId="{07BBB0F4-3A94-448E-A1EA-54B3CC923517}">
      <dgm:prSet/>
      <dgm:spPr/>
      <dgm:t>
        <a:bodyPr/>
        <a:lstStyle/>
        <a:p>
          <a:pPr>
            <a:lnSpc>
              <a:spcPct val="100000"/>
            </a:lnSpc>
          </a:pPr>
          <a:r>
            <a:rPr lang="en-CA"/>
            <a:t>Prioritize high-risk ones (Zones B and C) for replenishment policy checks and corrective action.</a:t>
          </a:r>
          <a:endParaRPr lang="en-US"/>
        </a:p>
      </dgm:t>
    </dgm:pt>
    <dgm:pt modelId="{7EE9D0B2-7537-4305-B209-CDA68C44A88E}" type="parTrans" cxnId="{B8D7BCB4-E96A-4059-A295-0F025C9591F9}">
      <dgm:prSet/>
      <dgm:spPr/>
      <dgm:t>
        <a:bodyPr/>
        <a:lstStyle/>
        <a:p>
          <a:endParaRPr lang="en-US"/>
        </a:p>
      </dgm:t>
    </dgm:pt>
    <dgm:pt modelId="{21B5E6B8-DCE0-4AE8-AC99-55E607A1F3E2}" type="sibTrans" cxnId="{B8D7BCB4-E96A-4059-A295-0F025C9591F9}">
      <dgm:prSet/>
      <dgm:spPr/>
      <dgm:t>
        <a:bodyPr/>
        <a:lstStyle/>
        <a:p>
          <a:endParaRPr lang="en-US"/>
        </a:p>
      </dgm:t>
    </dgm:pt>
    <dgm:pt modelId="{81E88455-36D4-4773-AC17-06C40D05DBD6}">
      <dgm:prSet/>
      <dgm:spPr/>
      <dgm:t>
        <a:bodyPr/>
        <a:lstStyle/>
        <a:p>
          <a:pPr>
            <a:lnSpc>
              <a:spcPct val="100000"/>
            </a:lnSpc>
          </a:pPr>
          <a:r>
            <a:rPr lang="en-CA"/>
            <a:t>Implement regular inventory dashboards that track under-stocked items by zone and monitor alignment between stock levels and reorder thresholds.</a:t>
          </a:r>
          <a:endParaRPr lang="en-US"/>
        </a:p>
      </dgm:t>
    </dgm:pt>
    <dgm:pt modelId="{82690E82-9FA0-4EA2-8B8E-6565941EA682}" type="parTrans" cxnId="{230BB7C4-EF5C-4E0F-84CA-B6CBE8321B32}">
      <dgm:prSet/>
      <dgm:spPr/>
      <dgm:t>
        <a:bodyPr/>
        <a:lstStyle/>
        <a:p>
          <a:endParaRPr lang="en-US"/>
        </a:p>
      </dgm:t>
    </dgm:pt>
    <dgm:pt modelId="{5EEEFD54-4006-4C77-B141-56C1391B69B4}" type="sibTrans" cxnId="{230BB7C4-EF5C-4E0F-84CA-B6CBE8321B32}">
      <dgm:prSet/>
      <dgm:spPr/>
      <dgm:t>
        <a:bodyPr/>
        <a:lstStyle/>
        <a:p>
          <a:endParaRPr lang="en-US"/>
        </a:p>
      </dgm:t>
    </dgm:pt>
    <dgm:pt modelId="{94A24FE6-E20B-42D6-B9EB-DA7027D0F71C}" type="pres">
      <dgm:prSet presAssocID="{1FD65D85-50EC-4626-B73E-17F8F281F934}" presName="root" presStyleCnt="0">
        <dgm:presLayoutVars>
          <dgm:dir/>
          <dgm:resizeHandles val="exact"/>
        </dgm:presLayoutVars>
      </dgm:prSet>
      <dgm:spPr/>
    </dgm:pt>
    <dgm:pt modelId="{4137D24E-DABA-4D75-A849-63E7E8F3DFB2}" type="pres">
      <dgm:prSet presAssocID="{3BE9EA81-B1C4-421D-BE89-E1685BDEF1BE}" presName="compNode" presStyleCnt="0"/>
      <dgm:spPr/>
    </dgm:pt>
    <dgm:pt modelId="{E1EB5245-D1D8-4A4B-B4FE-08DF884878F2}" type="pres">
      <dgm:prSet presAssocID="{3BE9EA81-B1C4-421D-BE89-E1685BDEF1BE}" presName="bgRect" presStyleLbl="bgShp" presStyleIdx="0" presStyleCnt="3"/>
      <dgm:spPr/>
    </dgm:pt>
    <dgm:pt modelId="{92C6C2D4-5887-4B85-9FE2-482C653D2D3C}" type="pres">
      <dgm:prSet presAssocID="{3BE9EA81-B1C4-421D-BE89-E1685BDEF1B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80A17DB3-84CB-4EBE-9B70-0542608CE972}" type="pres">
      <dgm:prSet presAssocID="{3BE9EA81-B1C4-421D-BE89-E1685BDEF1BE}" presName="spaceRect" presStyleCnt="0"/>
      <dgm:spPr/>
    </dgm:pt>
    <dgm:pt modelId="{885F4993-27C5-43A1-B282-2BF4B963E429}" type="pres">
      <dgm:prSet presAssocID="{3BE9EA81-B1C4-421D-BE89-E1685BDEF1BE}" presName="parTx" presStyleLbl="revTx" presStyleIdx="0" presStyleCnt="3">
        <dgm:presLayoutVars>
          <dgm:chMax val="0"/>
          <dgm:chPref val="0"/>
        </dgm:presLayoutVars>
      </dgm:prSet>
      <dgm:spPr/>
    </dgm:pt>
    <dgm:pt modelId="{B4CD382C-B5F7-4B68-A94A-59B6425ECEEB}" type="pres">
      <dgm:prSet presAssocID="{58136EA1-5E12-4282-B5F9-F2BAAD4F81B8}" presName="sibTrans" presStyleCnt="0"/>
      <dgm:spPr/>
    </dgm:pt>
    <dgm:pt modelId="{ABDDD670-E7B2-4E81-8722-9B62CAEED185}" type="pres">
      <dgm:prSet presAssocID="{07BBB0F4-3A94-448E-A1EA-54B3CC923517}" presName="compNode" presStyleCnt="0"/>
      <dgm:spPr/>
    </dgm:pt>
    <dgm:pt modelId="{4893440B-3B72-408B-9507-770ECADACC53}" type="pres">
      <dgm:prSet presAssocID="{07BBB0F4-3A94-448E-A1EA-54B3CC923517}" presName="bgRect" presStyleLbl="bgShp" presStyleIdx="1" presStyleCnt="3"/>
      <dgm:spPr/>
    </dgm:pt>
    <dgm:pt modelId="{CB611643-1DA2-4588-80B1-BBED69910660}" type="pres">
      <dgm:prSet presAssocID="{07BBB0F4-3A94-448E-A1EA-54B3CC92351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E5CB1BA3-6AB7-4882-8C3A-AE1AEB333779}" type="pres">
      <dgm:prSet presAssocID="{07BBB0F4-3A94-448E-A1EA-54B3CC923517}" presName="spaceRect" presStyleCnt="0"/>
      <dgm:spPr/>
    </dgm:pt>
    <dgm:pt modelId="{4DB52BCC-E5D5-495B-8031-18D906B32C77}" type="pres">
      <dgm:prSet presAssocID="{07BBB0F4-3A94-448E-A1EA-54B3CC923517}" presName="parTx" presStyleLbl="revTx" presStyleIdx="1" presStyleCnt="3">
        <dgm:presLayoutVars>
          <dgm:chMax val="0"/>
          <dgm:chPref val="0"/>
        </dgm:presLayoutVars>
      </dgm:prSet>
      <dgm:spPr/>
    </dgm:pt>
    <dgm:pt modelId="{0BF6FF27-E525-48A9-921F-5B8A30EC9ABD}" type="pres">
      <dgm:prSet presAssocID="{21B5E6B8-DCE0-4AE8-AC99-55E607A1F3E2}" presName="sibTrans" presStyleCnt="0"/>
      <dgm:spPr/>
    </dgm:pt>
    <dgm:pt modelId="{3378F788-6AE7-4A30-A670-FD4B540F6508}" type="pres">
      <dgm:prSet presAssocID="{81E88455-36D4-4773-AC17-06C40D05DBD6}" presName="compNode" presStyleCnt="0"/>
      <dgm:spPr/>
    </dgm:pt>
    <dgm:pt modelId="{78174AF9-AAE6-42E4-BEB0-9834A677BC73}" type="pres">
      <dgm:prSet presAssocID="{81E88455-36D4-4773-AC17-06C40D05DBD6}" presName="bgRect" presStyleLbl="bgShp" presStyleIdx="2" presStyleCnt="3"/>
      <dgm:spPr/>
    </dgm:pt>
    <dgm:pt modelId="{40A3BE56-C76A-42CE-BCDF-232A7428033A}" type="pres">
      <dgm:prSet presAssocID="{81E88455-36D4-4773-AC17-06C40D05DBD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Gauge"/>
        </a:ext>
      </dgm:extLst>
    </dgm:pt>
    <dgm:pt modelId="{B74C68CF-8991-43DE-913A-A089864FC02A}" type="pres">
      <dgm:prSet presAssocID="{81E88455-36D4-4773-AC17-06C40D05DBD6}" presName="spaceRect" presStyleCnt="0"/>
      <dgm:spPr/>
    </dgm:pt>
    <dgm:pt modelId="{7A240995-BD9D-4FD5-B6CE-78E829968188}" type="pres">
      <dgm:prSet presAssocID="{81E88455-36D4-4773-AC17-06C40D05DBD6}" presName="parTx" presStyleLbl="revTx" presStyleIdx="2" presStyleCnt="3">
        <dgm:presLayoutVars>
          <dgm:chMax val="0"/>
          <dgm:chPref val="0"/>
        </dgm:presLayoutVars>
      </dgm:prSet>
      <dgm:spPr/>
    </dgm:pt>
  </dgm:ptLst>
  <dgm:cxnLst>
    <dgm:cxn modelId="{07044112-F3E2-49C1-A6AD-3231B2BEEAEF}" type="presOf" srcId="{81E88455-36D4-4773-AC17-06C40D05DBD6}" destId="{7A240995-BD9D-4FD5-B6CE-78E829968188}" srcOrd="0" destOrd="0" presId="urn:microsoft.com/office/officeart/2018/2/layout/IconVerticalSolidList"/>
    <dgm:cxn modelId="{52790745-307C-4CDC-8776-ABDAA502A86A}" type="presOf" srcId="{1FD65D85-50EC-4626-B73E-17F8F281F934}" destId="{94A24FE6-E20B-42D6-B9EB-DA7027D0F71C}" srcOrd="0" destOrd="0" presId="urn:microsoft.com/office/officeart/2018/2/layout/IconVerticalSolidList"/>
    <dgm:cxn modelId="{F2BB4183-7F15-4294-B02A-506B075CDFAE}" type="presOf" srcId="{07BBB0F4-3A94-448E-A1EA-54B3CC923517}" destId="{4DB52BCC-E5D5-495B-8031-18D906B32C77}" srcOrd="0" destOrd="0" presId="urn:microsoft.com/office/officeart/2018/2/layout/IconVerticalSolidList"/>
    <dgm:cxn modelId="{1BB049B2-A24E-4DBC-90BE-51B3C1BC0026}" srcId="{1FD65D85-50EC-4626-B73E-17F8F281F934}" destId="{3BE9EA81-B1C4-421D-BE89-E1685BDEF1BE}" srcOrd="0" destOrd="0" parTransId="{44D2A8CD-36FC-4FC3-9A5E-7CC7504B1126}" sibTransId="{58136EA1-5E12-4282-B5F9-F2BAAD4F81B8}"/>
    <dgm:cxn modelId="{B8D7BCB4-E96A-4059-A295-0F025C9591F9}" srcId="{1FD65D85-50EC-4626-B73E-17F8F281F934}" destId="{07BBB0F4-3A94-448E-A1EA-54B3CC923517}" srcOrd="1" destOrd="0" parTransId="{7EE9D0B2-7537-4305-B209-CDA68C44A88E}" sibTransId="{21B5E6B8-DCE0-4AE8-AC99-55E607A1F3E2}"/>
    <dgm:cxn modelId="{230BB7C4-EF5C-4E0F-84CA-B6CBE8321B32}" srcId="{1FD65D85-50EC-4626-B73E-17F8F281F934}" destId="{81E88455-36D4-4773-AC17-06C40D05DBD6}" srcOrd="2" destOrd="0" parTransId="{82690E82-9FA0-4EA2-8B8E-6565941EA682}" sibTransId="{5EEEFD54-4006-4C77-B141-56C1391B69B4}"/>
    <dgm:cxn modelId="{01E71AF6-61DA-41FA-B73A-CBB0002F89C4}" type="presOf" srcId="{3BE9EA81-B1C4-421D-BE89-E1685BDEF1BE}" destId="{885F4993-27C5-43A1-B282-2BF4B963E429}" srcOrd="0" destOrd="0" presId="urn:microsoft.com/office/officeart/2018/2/layout/IconVerticalSolidList"/>
    <dgm:cxn modelId="{2A102EFD-B162-4A99-97E9-7D5D368507C7}" type="presParOf" srcId="{94A24FE6-E20B-42D6-B9EB-DA7027D0F71C}" destId="{4137D24E-DABA-4D75-A849-63E7E8F3DFB2}" srcOrd="0" destOrd="0" presId="urn:microsoft.com/office/officeart/2018/2/layout/IconVerticalSolidList"/>
    <dgm:cxn modelId="{B1C6FA94-1A5B-4742-9396-82076338D99F}" type="presParOf" srcId="{4137D24E-DABA-4D75-A849-63E7E8F3DFB2}" destId="{E1EB5245-D1D8-4A4B-B4FE-08DF884878F2}" srcOrd="0" destOrd="0" presId="urn:microsoft.com/office/officeart/2018/2/layout/IconVerticalSolidList"/>
    <dgm:cxn modelId="{C2527E32-6BD9-4CC1-9D3D-0AC2BB783E53}" type="presParOf" srcId="{4137D24E-DABA-4D75-A849-63E7E8F3DFB2}" destId="{92C6C2D4-5887-4B85-9FE2-482C653D2D3C}" srcOrd="1" destOrd="0" presId="urn:microsoft.com/office/officeart/2018/2/layout/IconVerticalSolidList"/>
    <dgm:cxn modelId="{254E75D0-9F08-4D6F-8343-037288EDC845}" type="presParOf" srcId="{4137D24E-DABA-4D75-A849-63E7E8F3DFB2}" destId="{80A17DB3-84CB-4EBE-9B70-0542608CE972}" srcOrd="2" destOrd="0" presId="urn:microsoft.com/office/officeart/2018/2/layout/IconVerticalSolidList"/>
    <dgm:cxn modelId="{266E0807-D343-473A-AF0B-8B110E9CEC16}" type="presParOf" srcId="{4137D24E-DABA-4D75-A849-63E7E8F3DFB2}" destId="{885F4993-27C5-43A1-B282-2BF4B963E429}" srcOrd="3" destOrd="0" presId="urn:microsoft.com/office/officeart/2018/2/layout/IconVerticalSolidList"/>
    <dgm:cxn modelId="{00572DEE-15CC-4617-A585-30B0575D8A99}" type="presParOf" srcId="{94A24FE6-E20B-42D6-B9EB-DA7027D0F71C}" destId="{B4CD382C-B5F7-4B68-A94A-59B6425ECEEB}" srcOrd="1" destOrd="0" presId="urn:microsoft.com/office/officeart/2018/2/layout/IconVerticalSolidList"/>
    <dgm:cxn modelId="{5AB21027-1D2A-4850-8431-66E0E9299727}" type="presParOf" srcId="{94A24FE6-E20B-42D6-B9EB-DA7027D0F71C}" destId="{ABDDD670-E7B2-4E81-8722-9B62CAEED185}" srcOrd="2" destOrd="0" presId="urn:microsoft.com/office/officeart/2018/2/layout/IconVerticalSolidList"/>
    <dgm:cxn modelId="{0A597909-1076-48F4-8441-426CC54CF5C4}" type="presParOf" srcId="{ABDDD670-E7B2-4E81-8722-9B62CAEED185}" destId="{4893440B-3B72-408B-9507-770ECADACC53}" srcOrd="0" destOrd="0" presId="urn:microsoft.com/office/officeart/2018/2/layout/IconVerticalSolidList"/>
    <dgm:cxn modelId="{EC2FB2CA-E547-43C0-972E-84E1E9557CE5}" type="presParOf" srcId="{ABDDD670-E7B2-4E81-8722-9B62CAEED185}" destId="{CB611643-1DA2-4588-80B1-BBED69910660}" srcOrd="1" destOrd="0" presId="urn:microsoft.com/office/officeart/2018/2/layout/IconVerticalSolidList"/>
    <dgm:cxn modelId="{A25E124D-F347-439D-9E0E-2AA571F680C8}" type="presParOf" srcId="{ABDDD670-E7B2-4E81-8722-9B62CAEED185}" destId="{E5CB1BA3-6AB7-4882-8C3A-AE1AEB333779}" srcOrd="2" destOrd="0" presId="urn:microsoft.com/office/officeart/2018/2/layout/IconVerticalSolidList"/>
    <dgm:cxn modelId="{CD06FA2D-4711-4521-9695-2BAA0228C2AE}" type="presParOf" srcId="{ABDDD670-E7B2-4E81-8722-9B62CAEED185}" destId="{4DB52BCC-E5D5-495B-8031-18D906B32C77}" srcOrd="3" destOrd="0" presId="urn:microsoft.com/office/officeart/2018/2/layout/IconVerticalSolidList"/>
    <dgm:cxn modelId="{CF33A98A-510D-4A09-AC31-ECC25C1A223C}" type="presParOf" srcId="{94A24FE6-E20B-42D6-B9EB-DA7027D0F71C}" destId="{0BF6FF27-E525-48A9-921F-5B8A30EC9ABD}" srcOrd="3" destOrd="0" presId="urn:microsoft.com/office/officeart/2018/2/layout/IconVerticalSolidList"/>
    <dgm:cxn modelId="{B509B6C6-0822-4FCF-A427-F01EAAC6E30B}" type="presParOf" srcId="{94A24FE6-E20B-42D6-B9EB-DA7027D0F71C}" destId="{3378F788-6AE7-4A30-A670-FD4B540F6508}" srcOrd="4" destOrd="0" presId="urn:microsoft.com/office/officeart/2018/2/layout/IconVerticalSolidList"/>
    <dgm:cxn modelId="{8B42843B-B46F-4A42-A957-CEE5942B6C00}" type="presParOf" srcId="{3378F788-6AE7-4A30-A670-FD4B540F6508}" destId="{78174AF9-AAE6-42E4-BEB0-9834A677BC73}" srcOrd="0" destOrd="0" presId="urn:microsoft.com/office/officeart/2018/2/layout/IconVerticalSolidList"/>
    <dgm:cxn modelId="{51BEA0C7-ADCA-432C-AA11-63675C9F47C1}" type="presParOf" srcId="{3378F788-6AE7-4A30-A670-FD4B540F6508}" destId="{40A3BE56-C76A-42CE-BCDF-232A7428033A}" srcOrd="1" destOrd="0" presId="urn:microsoft.com/office/officeart/2018/2/layout/IconVerticalSolidList"/>
    <dgm:cxn modelId="{6E46DDD4-475E-438B-8DD5-E96175896241}" type="presParOf" srcId="{3378F788-6AE7-4A30-A670-FD4B540F6508}" destId="{B74C68CF-8991-43DE-913A-A089864FC02A}" srcOrd="2" destOrd="0" presId="urn:microsoft.com/office/officeart/2018/2/layout/IconVerticalSolidList"/>
    <dgm:cxn modelId="{C531596D-5B09-4237-952F-FDEA14F3AC07}" type="presParOf" srcId="{3378F788-6AE7-4A30-A670-FD4B540F6508}" destId="{7A240995-BD9D-4FD5-B6CE-78E82996818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6C2C626-2771-478F-99A7-22E4E46D6B9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FE336BAA-3B81-491E-BDDB-7ACAF52120AE}">
      <dgm:prSet/>
      <dgm:spPr/>
      <dgm:t>
        <a:bodyPr/>
        <a:lstStyle/>
        <a:p>
          <a:pPr>
            <a:lnSpc>
              <a:spcPct val="100000"/>
            </a:lnSpc>
          </a:pPr>
          <a:r>
            <a:rPr lang="en-CA"/>
            <a:t>Data Science Process Alliance. (2024, December 9). </a:t>
          </a:r>
          <a:r>
            <a:rPr lang="en-CA" i="1"/>
            <a:t>What is CRISP-DM?</a:t>
          </a:r>
          <a:r>
            <a:rPr lang="en-CA"/>
            <a:t> https://www.datascience-pm.com/crisp-dm-2/</a:t>
          </a:r>
          <a:endParaRPr lang="en-US"/>
        </a:p>
      </dgm:t>
    </dgm:pt>
    <dgm:pt modelId="{3DD8EE8C-8155-4059-8B7F-344737A82695}" type="parTrans" cxnId="{9010FAEA-0523-4892-8492-139260F25D51}">
      <dgm:prSet/>
      <dgm:spPr/>
      <dgm:t>
        <a:bodyPr/>
        <a:lstStyle/>
        <a:p>
          <a:endParaRPr lang="en-US"/>
        </a:p>
      </dgm:t>
    </dgm:pt>
    <dgm:pt modelId="{F9FD5B8D-0DA9-4DFC-BDDA-EC9579C24FD0}" type="sibTrans" cxnId="{9010FAEA-0523-4892-8492-139260F25D51}">
      <dgm:prSet/>
      <dgm:spPr/>
      <dgm:t>
        <a:bodyPr/>
        <a:lstStyle/>
        <a:p>
          <a:pPr>
            <a:lnSpc>
              <a:spcPct val="100000"/>
            </a:lnSpc>
          </a:pPr>
          <a:endParaRPr lang="en-US"/>
        </a:p>
      </dgm:t>
    </dgm:pt>
    <dgm:pt modelId="{49027DB2-AB41-412C-B7AC-003F0E60526C}">
      <dgm:prSet/>
      <dgm:spPr/>
      <dgm:t>
        <a:bodyPr/>
        <a:lstStyle/>
        <a:p>
          <a:pPr>
            <a:lnSpc>
              <a:spcPct val="100000"/>
            </a:lnSpc>
          </a:pPr>
          <a:r>
            <a:rPr lang="en-CA"/>
            <a:t>Ziya07. (2025, July 29). </a:t>
          </a:r>
          <a:r>
            <a:rPr lang="en-CA" i="1"/>
            <a:t>Logistics warehouse dataset</a:t>
          </a:r>
          <a:r>
            <a:rPr lang="en-CA"/>
            <a:t> [Data set]. Kaggle. https://www.kaggle.com/datasets/ziya07/logistics-warehouse-dataset</a:t>
          </a:r>
          <a:endParaRPr lang="en-US"/>
        </a:p>
      </dgm:t>
    </dgm:pt>
    <dgm:pt modelId="{AAFA150A-807E-4E0F-8847-60F8D3718241}" type="parTrans" cxnId="{AB22BBE7-856B-4F56-826D-23456F6962B3}">
      <dgm:prSet/>
      <dgm:spPr/>
      <dgm:t>
        <a:bodyPr/>
        <a:lstStyle/>
        <a:p>
          <a:endParaRPr lang="en-US"/>
        </a:p>
      </dgm:t>
    </dgm:pt>
    <dgm:pt modelId="{568320D4-25F4-4A6F-923E-AB9FD48566C0}" type="sibTrans" cxnId="{AB22BBE7-856B-4F56-826D-23456F6962B3}">
      <dgm:prSet/>
      <dgm:spPr/>
      <dgm:t>
        <a:bodyPr/>
        <a:lstStyle/>
        <a:p>
          <a:pPr>
            <a:lnSpc>
              <a:spcPct val="100000"/>
            </a:lnSpc>
          </a:pPr>
          <a:endParaRPr lang="en-US"/>
        </a:p>
      </dgm:t>
    </dgm:pt>
    <dgm:pt modelId="{05A0D724-2AFF-44AC-A640-AB11921D988B}">
      <dgm:prSet/>
      <dgm:spPr/>
      <dgm:t>
        <a:bodyPr/>
        <a:lstStyle/>
        <a:p>
          <a:pPr>
            <a:lnSpc>
              <a:spcPct val="100000"/>
            </a:lnSpc>
          </a:pPr>
          <a:r>
            <a:rPr lang="en-CA"/>
            <a:t>Wickham, H. (2016). </a:t>
          </a:r>
          <a:r>
            <a:rPr lang="en-CA" i="1"/>
            <a:t>ggplot2: Elegant graphics for data analysis</a:t>
          </a:r>
          <a:r>
            <a:rPr lang="en-CA"/>
            <a:t>. Springer-Verlag New York. https://ggplot2.tidyverse.org</a:t>
          </a:r>
          <a:endParaRPr lang="en-US"/>
        </a:p>
      </dgm:t>
    </dgm:pt>
    <dgm:pt modelId="{8CDF474D-FD6B-4E07-AB90-86CFF95441B2}" type="parTrans" cxnId="{0D3F0D7C-136A-4183-97F0-87B9084F7557}">
      <dgm:prSet/>
      <dgm:spPr/>
      <dgm:t>
        <a:bodyPr/>
        <a:lstStyle/>
        <a:p>
          <a:endParaRPr lang="en-US"/>
        </a:p>
      </dgm:t>
    </dgm:pt>
    <dgm:pt modelId="{CFBBA935-1965-4771-A70E-66E6CB3B942A}" type="sibTrans" cxnId="{0D3F0D7C-136A-4183-97F0-87B9084F7557}">
      <dgm:prSet/>
      <dgm:spPr/>
      <dgm:t>
        <a:bodyPr/>
        <a:lstStyle/>
        <a:p>
          <a:pPr>
            <a:lnSpc>
              <a:spcPct val="100000"/>
            </a:lnSpc>
          </a:pPr>
          <a:endParaRPr lang="en-US"/>
        </a:p>
      </dgm:t>
    </dgm:pt>
    <dgm:pt modelId="{29694F85-A93E-47B0-819C-21932913C85E}">
      <dgm:prSet/>
      <dgm:spPr/>
      <dgm:t>
        <a:bodyPr/>
        <a:lstStyle/>
        <a:p>
          <a:pPr>
            <a:lnSpc>
              <a:spcPct val="100000"/>
            </a:lnSpc>
          </a:pPr>
          <a:r>
            <a:rPr lang="en-CA"/>
            <a:t>Wickham, H., François, R., Henry, L., Müller, K., &amp; Vaughan, D. (2026). </a:t>
          </a:r>
          <a:r>
            <a:rPr lang="en-CA" i="1"/>
            <a:t>dplyr: A grammar of data manipulation</a:t>
          </a:r>
          <a:r>
            <a:rPr lang="en-CA"/>
            <a:t> (R package version 1.2.1) [Computer software]. https://dplyr.tidyverse.org</a:t>
          </a:r>
          <a:endParaRPr lang="en-US"/>
        </a:p>
      </dgm:t>
    </dgm:pt>
    <dgm:pt modelId="{347FB1AA-2297-4A82-B993-E9F44FC06F48}" type="parTrans" cxnId="{D748BDAF-780A-44CE-979D-7DCCEA4BAD85}">
      <dgm:prSet/>
      <dgm:spPr/>
      <dgm:t>
        <a:bodyPr/>
        <a:lstStyle/>
        <a:p>
          <a:endParaRPr lang="en-US"/>
        </a:p>
      </dgm:t>
    </dgm:pt>
    <dgm:pt modelId="{76213F20-FFF7-4D03-8E32-DB12134A4348}" type="sibTrans" cxnId="{D748BDAF-780A-44CE-979D-7DCCEA4BAD85}">
      <dgm:prSet/>
      <dgm:spPr/>
      <dgm:t>
        <a:bodyPr/>
        <a:lstStyle/>
        <a:p>
          <a:endParaRPr lang="en-US"/>
        </a:p>
      </dgm:t>
    </dgm:pt>
    <dgm:pt modelId="{43B3F085-438E-42DB-BD03-E2E133B56B98}" type="pres">
      <dgm:prSet presAssocID="{16C2C626-2771-478F-99A7-22E4E46D6B91}" presName="root" presStyleCnt="0">
        <dgm:presLayoutVars>
          <dgm:dir/>
          <dgm:resizeHandles val="exact"/>
        </dgm:presLayoutVars>
      </dgm:prSet>
      <dgm:spPr/>
    </dgm:pt>
    <dgm:pt modelId="{1FDFDE99-390F-4F3F-AC34-67FDD6922737}" type="pres">
      <dgm:prSet presAssocID="{16C2C626-2771-478F-99A7-22E4E46D6B91}" presName="container" presStyleCnt="0">
        <dgm:presLayoutVars>
          <dgm:dir/>
          <dgm:resizeHandles val="exact"/>
        </dgm:presLayoutVars>
      </dgm:prSet>
      <dgm:spPr/>
    </dgm:pt>
    <dgm:pt modelId="{38641F74-1E99-4C24-AACE-37BD1F3D0E0C}" type="pres">
      <dgm:prSet presAssocID="{FE336BAA-3B81-491E-BDDB-7ACAF52120AE}" presName="compNode" presStyleCnt="0"/>
      <dgm:spPr/>
    </dgm:pt>
    <dgm:pt modelId="{8637C42E-7AB1-48C0-B100-63F6A4EA454B}" type="pres">
      <dgm:prSet presAssocID="{FE336BAA-3B81-491E-BDDB-7ACAF52120AE}" presName="iconBgRect" presStyleLbl="bgShp" presStyleIdx="0" presStyleCnt="4"/>
      <dgm:spPr/>
    </dgm:pt>
    <dgm:pt modelId="{393CAB68-086F-46BA-844C-AD276370A69C}" type="pres">
      <dgm:prSet presAssocID="{FE336BAA-3B81-491E-BDDB-7ACAF52120A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Network"/>
        </a:ext>
      </dgm:extLst>
    </dgm:pt>
    <dgm:pt modelId="{6C84C46B-4CCD-46F5-B0F8-573F69C21144}" type="pres">
      <dgm:prSet presAssocID="{FE336BAA-3B81-491E-BDDB-7ACAF52120AE}" presName="spaceRect" presStyleCnt="0"/>
      <dgm:spPr/>
    </dgm:pt>
    <dgm:pt modelId="{BAD728E6-59E5-4F89-B8F8-DA43E8937126}" type="pres">
      <dgm:prSet presAssocID="{FE336BAA-3B81-491E-BDDB-7ACAF52120AE}" presName="textRect" presStyleLbl="revTx" presStyleIdx="0" presStyleCnt="4">
        <dgm:presLayoutVars>
          <dgm:chMax val="1"/>
          <dgm:chPref val="1"/>
        </dgm:presLayoutVars>
      </dgm:prSet>
      <dgm:spPr/>
    </dgm:pt>
    <dgm:pt modelId="{D53C8798-47AE-4963-A5CB-B0FDC2475611}" type="pres">
      <dgm:prSet presAssocID="{F9FD5B8D-0DA9-4DFC-BDDA-EC9579C24FD0}" presName="sibTrans" presStyleLbl="sibTrans2D1" presStyleIdx="0" presStyleCnt="0"/>
      <dgm:spPr/>
    </dgm:pt>
    <dgm:pt modelId="{A0F9C8FD-FB01-4166-A123-319397B13A50}" type="pres">
      <dgm:prSet presAssocID="{49027DB2-AB41-412C-B7AC-003F0E60526C}" presName="compNode" presStyleCnt="0"/>
      <dgm:spPr/>
    </dgm:pt>
    <dgm:pt modelId="{F386DCE1-5C52-4D97-ABCC-8188661B4C48}" type="pres">
      <dgm:prSet presAssocID="{49027DB2-AB41-412C-B7AC-003F0E60526C}" presName="iconBgRect" presStyleLbl="bgShp" presStyleIdx="1" presStyleCnt="4"/>
      <dgm:spPr/>
    </dgm:pt>
    <dgm:pt modelId="{F2FF9374-3553-400E-A86A-FB7C8343B160}" type="pres">
      <dgm:prSet presAssocID="{49027DB2-AB41-412C-B7AC-003F0E60526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ce"/>
        </a:ext>
      </dgm:extLst>
    </dgm:pt>
    <dgm:pt modelId="{12A97561-CF99-4F6F-A2DB-4374CAC409BC}" type="pres">
      <dgm:prSet presAssocID="{49027DB2-AB41-412C-B7AC-003F0E60526C}" presName="spaceRect" presStyleCnt="0"/>
      <dgm:spPr/>
    </dgm:pt>
    <dgm:pt modelId="{54C9A866-ACDD-4137-A68C-7388D68E68E6}" type="pres">
      <dgm:prSet presAssocID="{49027DB2-AB41-412C-B7AC-003F0E60526C}" presName="textRect" presStyleLbl="revTx" presStyleIdx="1" presStyleCnt="4">
        <dgm:presLayoutVars>
          <dgm:chMax val="1"/>
          <dgm:chPref val="1"/>
        </dgm:presLayoutVars>
      </dgm:prSet>
      <dgm:spPr/>
    </dgm:pt>
    <dgm:pt modelId="{DADD9903-457D-44A7-8A64-28EF02333BB8}" type="pres">
      <dgm:prSet presAssocID="{568320D4-25F4-4A6F-923E-AB9FD48566C0}" presName="sibTrans" presStyleLbl="sibTrans2D1" presStyleIdx="0" presStyleCnt="0"/>
      <dgm:spPr/>
    </dgm:pt>
    <dgm:pt modelId="{139F29A1-DA8E-4F4E-8B36-9BC61F8E214A}" type="pres">
      <dgm:prSet presAssocID="{05A0D724-2AFF-44AC-A640-AB11921D988B}" presName="compNode" presStyleCnt="0"/>
      <dgm:spPr/>
    </dgm:pt>
    <dgm:pt modelId="{C1DD4607-DDC6-46EE-A217-38C125863021}" type="pres">
      <dgm:prSet presAssocID="{05A0D724-2AFF-44AC-A640-AB11921D988B}" presName="iconBgRect" presStyleLbl="bgShp" presStyleIdx="2" presStyleCnt="4"/>
      <dgm:spPr/>
    </dgm:pt>
    <dgm:pt modelId="{610E9F4A-EB2A-48BB-8D8C-9C5229A26DAA}" type="pres">
      <dgm:prSet presAssocID="{05A0D724-2AFF-44AC-A640-AB11921D988B}"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esearch"/>
        </a:ext>
      </dgm:extLst>
    </dgm:pt>
    <dgm:pt modelId="{49C52AAE-000F-466A-B9BB-8D35E9ABED76}" type="pres">
      <dgm:prSet presAssocID="{05A0D724-2AFF-44AC-A640-AB11921D988B}" presName="spaceRect" presStyleCnt="0"/>
      <dgm:spPr/>
    </dgm:pt>
    <dgm:pt modelId="{1AC61FE6-6237-4F6B-B3D0-4752A358FE50}" type="pres">
      <dgm:prSet presAssocID="{05A0D724-2AFF-44AC-A640-AB11921D988B}" presName="textRect" presStyleLbl="revTx" presStyleIdx="2" presStyleCnt="4">
        <dgm:presLayoutVars>
          <dgm:chMax val="1"/>
          <dgm:chPref val="1"/>
        </dgm:presLayoutVars>
      </dgm:prSet>
      <dgm:spPr/>
    </dgm:pt>
    <dgm:pt modelId="{01A877B6-21B4-4205-A322-1AC798E63838}" type="pres">
      <dgm:prSet presAssocID="{CFBBA935-1965-4771-A70E-66E6CB3B942A}" presName="sibTrans" presStyleLbl="sibTrans2D1" presStyleIdx="0" presStyleCnt="0"/>
      <dgm:spPr/>
    </dgm:pt>
    <dgm:pt modelId="{005A6B28-6D93-414F-8B34-DE1D90C9F190}" type="pres">
      <dgm:prSet presAssocID="{29694F85-A93E-47B0-819C-21932913C85E}" presName="compNode" presStyleCnt="0"/>
      <dgm:spPr/>
    </dgm:pt>
    <dgm:pt modelId="{EC9A0C34-19E3-4FEA-8CA3-7EC95B7D47DE}" type="pres">
      <dgm:prSet presAssocID="{29694F85-A93E-47B0-819C-21932913C85E}" presName="iconBgRect" presStyleLbl="bgShp" presStyleIdx="3" presStyleCnt="4"/>
      <dgm:spPr/>
    </dgm:pt>
    <dgm:pt modelId="{F0C40844-3947-490A-9E00-E3826FA9CE65}" type="pres">
      <dgm:prSet presAssocID="{29694F85-A93E-47B0-819C-21932913C85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eprechaun Hat"/>
        </a:ext>
      </dgm:extLst>
    </dgm:pt>
    <dgm:pt modelId="{80C7C668-098D-444D-8956-9002E0313CF7}" type="pres">
      <dgm:prSet presAssocID="{29694F85-A93E-47B0-819C-21932913C85E}" presName="spaceRect" presStyleCnt="0"/>
      <dgm:spPr/>
    </dgm:pt>
    <dgm:pt modelId="{EEC1D1D1-0C56-4F3A-B665-4931F90E8378}" type="pres">
      <dgm:prSet presAssocID="{29694F85-A93E-47B0-819C-21932913C85E}" presName="textRect" presStyleLbl="revTx" presStyleIdx="3" presStyleCnt="4">
        <dgm:presLayoutVars>
          <dgm:chMax val="1"/>
          <dgm:chPref val="1"/>
        </dgm:presLayoutVars>
      </dgm:prSet>
      <dgm:spPr/>
    </dgm:pt>
  </dgm:ptLst>
  <dgm:cxnLst>
    <dgm:cxn modelId="{CAC40930-1BCB-45BD-A8C4-3BDB0FBA24F9}" type="presOf" srcId="{F9FD5B8D-0DA9-4DFC-BDDA-EC9579C24FD0}" destId="{D53C8798-47AE-4963-A5CB-B0FDC2475611}" srcOrd="0" destOrd="0" presId="urn:microsoft.com/office/officeart/2018/2/layout/IconCircleList"/>
    <dgm:cxn modelId="{3947903F-2F67-452E-BDFC-0A71F048BC4E}" type="presOf" srcId="{568320D4-25F4-4A6F-923E-AB9FD48566C0}" destId="{DADD9903-457D-44A7-8A64-28EF02333BB8}" srcOrd="0" destOrd="0" presId="urn:microsoft.com/office/officeart/2018/2/layout/IconCircleList"/>
    <dgm:cxn modelId="{7A3FF66F-F5FC-41AC-AF8F-D311C9F15C51}" type="presOf" srcId="{29694F85-A93E-47B0-819C-21932913C85E}" destId="{EEC1D1D1-0C56-4F3A-B665-4931F90E8378}" srcOrd="0" destOrd="0" presId="urn:microsoft.com/office/officeart/2018/2/layout/IconCircleList"/>
    <dgm:cxn modelId="{0D3F0D7C-136A-4183-97F0-87B9084F7557}" srcId="{16C2C626-2771-478F-99A7-22E4E46D6B91}" destId="{05A0D724-2AFF-44AC-A640-AB11921D988B}" srcOrd="2" destOrd="0" parTransId="{8CDF474D-FD6B-4E07-AB90-86CFF95441B2}" sibTransId="{CFBBA935-1965-4771-A70E-66E6CB3B942A}"/>
    <dgm:cxn modelId="{1F9D3688-12CC-423B-9222-CACB817F2BBB}" type="presOf" srcId="{FE336BAA-3B81-491E-BDDB-7ACAF52120AE}" destId="{BAD728E6-59E5-4F89-B8F8-DA43E8937126}" srcOrd="0" destOrd="0" presId="urn:microsoft.com/office/officeart/2018/2/layout/IconCircleList"/>
    <dgm:cxn modelId="{BAB121A0-FE0B-479A-B6FA-639B08659490}" type="presOf" srcId="{49027DB2-AB41-412C-B7AC-003F0E60526C}" destId="{54C9A866-ACDD-4137-A68C-7388D68E68E6}" srcOrd="0" destOrd="0" presId="urn:microsoft.com/office/officeart/2018/2/layout/IconCircleList"/>
    <dgm:cxn modelId="{D748BDAF-780A-44CE-979D-7DCCEA4BAD85}" srcId="{16C2C626-2771-478F-99A7-22E4E46D6B91}" destId="{29694F85-A93E-47B0-819C-21932913C85E}" srcOrd="3" destOrd="0" parTransId="{347FB1AA-2297-4A82-B993-E9F44FC06F48}" sibTransId="{76213F20-FFF7-4D03-8E32-DB12134A4348}"/>
    <dgm:cxn modelId="{E99EBCB4-2039-4A67-8D10-EA2317235994}" type="presOf" srcId="{CFBBA935-1965-4771-A70E-66E6CB3B942A}" destId="{01A877B6-21B4-4205-A322-1AC798E63838}" srcOrd="0" destOrd="0" presId="urn:microsoft.com/office/officeart/2018/2/layout/IconCircleList"/>
    <dgm:cxn modelId="{12618ABC-7FA2-4817-964E-185CAE48E2F8}" type="presOf" srcId="{16C2C626-2771-478F-99A7-22E4E46D6B91}" destId="{43B3F085-438E-42DB-BD03-E2E133B56B98}" srcOrd="0" destOrd="0" presId="urn:microsoft.com/office/officeart/2018/2/layout/IconCircleList"/>
    <dgm:cxn modelId="{704068C1-2DD9-44BA-8E0B-84F37A6AE317}" type="presOf" srcId="{05A0D724-2AFF-44AC-A640-AB11921D988B}" destId="{1AC61FE6-6237-4F6B-B3D0-4752A358FE50}" srcOrd="0" destOrd="0" presId="urn:microsoft.com/office/officeart/2018/2/layout/IconCircleList"/>
    <dgm:cxn modelId="{AB22BBE7-856B-4F56-826D-23456F6962B3}" srcId="{16C2C626-2771-478F-99A7-22E4E46D6B91}" destId="{49027DB2-AB41-412C-B7AC-003F0E60526C}" srcOrd="1" destOrd="0" parTransId="{AAFA150A-807E-4E0F-8847-60F8D3718241}" sibTransId="{568320D4-25F4-4A6F-923E-AB9FD48566C0}"/>
    <dgm:cxn modelId="{9010FAEA-0523-4892-8492-139260F25D51}" srcId="{16C2C626-2771-478F-99A7-22E4E46D6B91}" destId="{FE336BAA-3B81-491E-BDDB-7ACAF52120AE}" srcOrd="0" destOrd="0" parTransId="{3DD8EE8C-8155-4059-8B7F-344737A82695}" sibTransId="{F9FD5B8D-0DA9-4DFC-BDDA-EC9579C24FD0}"/>
    <dgm:cxn modelId="{BDAE6D39-BBCC-4991-918E-0E2F195AA7A9}" type="presParOf" srcId="{43B3F085-438E-42DB-BD03-E2E133B56B98}" destId="{1FDFDE99-390F-4F3F-AC34-67FDD6922737}" srcOrd="0" destOrd="0" presId="urn:microsoft.com/office/officeart/2018/2/layout/IconCircleList"/>
    <dgm:cxn modelId="{6601F1CB-EA0B-4C25-9043-72D387C223C6}" type="presParOf" srcId="{1FDFDE99-390F-4F3F-AC34-67FDD6922737}" destId="{38641F74-1E99-4C24-AACE-37BD1F3D0E0C}" srcOrd="0" destOrd="0" presId="urn:microsoft.com/office/officeart/2018/2/layout/IconCircleList"/>
    <dgm:cxn modelId="{368079DA-E75E-45BD-814D-D92194BEE424}" type="presParOf" srcId="{38641F74-1E99-4C24-AACE-37BD1F3D0E0C}" destId="{8637C42E-7AB1-48C0-B100-63F6A4EA454B}" srcOrd="0" destOrd="0" presId="urn:microsoft.com/office/officeart/2018/2/layout/IconCircleList"/>
    <dgm:cxn modelId="{B41DB6E2-B4D3-4AFE-93D5-18C8F254A9D0}" type="presParOf" srcId="{38641F74-1E99-4C24-AACE-37BD1F3D0E0C}" destId="{393CAB68-086F-46BA-844C-AD276370A69C}" srcOrd="1" destOrd="0" presId="urn:microsoft.com/office/officeart/2018/2/layout/IconCircleList"/>
    <dgm:cxn modelId="{E0186B3F-929F-4E15-B356-3F183519C027}" type="presParOf" srcId="{38641F74-1E99-4C24-AACE-37BD1F3D0E0C}" destId="{6C84C46B-4CCD-46F5-B0F8-573F69C21144}" srcOrd="2" destOrd="0" presId="urn:microsoft.com/office/officeart/2018/2/layout/IconCircleList"/>
    <dgm:cxn modelId="{C03442C2-090B-4622-8F7E-BBA70CD66F12}" type="presParOf" srcId="{38641F74-1E99-4C24-AACE-37BD1F3D0E0C}" destId="{BAD728E6-59E5-4F89-B8F8-DA43E8937126}" srcOrd="3" destOrd="0" presId="urn:microsoft.com/office/officeart/2018/2/layout/IconCircleList"/>
    <dgm:cxn modelId="{66B13556-D2FD-4370-9C77-65EEC81062DB}" type="presParOf" srcId="{1FDFDE99-390F-4F3F-AC34-67FDD6922737}" destId="{D53C8798-47AE-4963-A5CB-B0FDC2475611}" srcOrd="1" destOrd="0" presId="urn:microsoft.com/office/officeart/2018/2/layout/IconCircleList"/>
    <dgm:cxn modelId="{E4B9BF74-A8A8-450E-BB58-9DFA975FDD61}" type="presParOf" srcId="{1FDFDE99-390F-4F3F-AC34-67FDD6922737}" destId="{A0F9C8FD-FB01-4166-A123-319397B13A50}" srcOrd="2" destOrd="0" presId="urn:microsoft.com/office/officeart/2018/2/layout/IconCircleList"/>
    <dgm:cxn modelId="{7D71AAB5-AE3A-40C2-97F7-A6CBFCE40C6A}" type="presParOf" srcId="{A0F9C8FD-FB01-4166-A123-319397B13A50}" destId="{F386DCE1-5C52-4D97-ABCC-8188661B4C48}" srcOrd="0" destOrd="0" presId="urn:microsoft.com/office/officeart/2018/2/layout/IconCircleList"/>
    <dgm:cxn modelId="{818788EB-7219-4CDC-9F48-C1A592877CE7}" type="presParOf" srcId="{A0F9C8FD-FB01-4166-A123-319397B13A50}" destId="{F2FF9374-3553-400E-A86A-FB7C8343B160}" srcOrd="1" destOrd="0" presId="urn:microsoft.com/office/officeart/2018/2/layout/IconCircleList"/>
    <dgm:cxn modelId="{77BA8E59-DB79-42CD-AAF7-81FCE481EEA9}" type="presParOf" srcId="{A0F9C8FD-FB01-4166-A123-319397B13A50}" destId="{12A97561-CF99-4F6F-A2DB-4374CAC409BC}" srcOrd="2" destOrd="0" presId="urn:microsoft.com/office/officeart/2018/2/layout/IconCircleList"/>
    <dgm:cxn modelId="{5C0F2226-3E32-44D1-A9A3-F5DFC7BCF6BF}" type="presParOf" srcId="{A0F9C8FD-FB01-4166-A123-319397B13A50}" destId="{54C9A866-ACDD-4137-A68C-7388D68E68E6}" srcOrd="3" destOrd="0" presId="urn:microsoft.com/office/officeart/2018/2/layout/IconCircleList"/>
    <dgm:cxn modelId="{EE76924C-F8DD-44A4-8203-4170E12F6C1A}" type="presParOf" srcId="{1FDFDE99-390F-4F3F-AC34-67FDD6922737}" destId="{DADD9903-457D-44A7-8A64-28EF02333BB8}" srcOrd="3" destOrd="0" presId="urn:microsoft.com/office/officeart/2018/2/layout/IconCircleList"/>
    <dgm:cxn modelId="{BEE8BB19-878B-407B-8C47-411891FC2439}" type="presParOf" srcId="{1FDFDE99-390F-4F3F-AC34-67FDD6922737}" destId="{139F29A1-DA8E-4F4E-8B36-9BC61F8E214A}" srcOrd="4" destOrd="0" presId="urn:microsoft.com/office/officeart/2018/2/layout/IconCircleList"/>
    <dgm:cxn modelId="{F7C82836-4DB7-4122-89DB-1BDABE4862BB}" type="presParOf" srcId="{139F29A1-DA8E-4F4E-8B36-9BC61F8E214A}" destId="{C1DD4607-DDC6-46EE-A217-38C125863021}" srcOrd="0" destOrd="0" presId="urn:microsoft.com/office/officeart/2018/2/layout/IconCircleList"/>
    <dgm:cxn modelId="{461C15E4-150A-422D-BDCE-199FE8A7A9F4}" type="presParOf" srcId="{139F29A1-DA8E-4F4E-8B36-9BC61F8E214A}" destId="{610E9F4A-EB2A-48BB-8D8C-9C5229A26DAA}" srcOrd="1" destOrd="0" presId="urn:microsoft.com/office/officeart/2018/2/layout/IconCircleList"/>
    <dgm:cxn modelId="{54C00AB8-E9E5-4858-85E7-61C9FED83724}" type="presParOf" srcId="{139F29A1-DA8E-4F4E-8B36-9BC61F8E214A}" destId="{49C52AAE-000F-466A-B9BB-8D35E9ABED76}" srcOrd="2" destOrd="0" presId="urn:microsoft.com/office/officeart/2018/2/layout/IconCircleList"/>
    <dgm:cxn modelId="{02C80D70-442D-420C-B9A8-4ABBE12B8059}" type="presParOf" srcId="{139F29A1-DA8E-4F4E-8B36-9BC61F8E214A}" destId="{1AC61FE6-6237-4F6B-B3D0-4752A358FE50}" srcOrd="3" destOrd="0" presId="urn:microsoft.com/office/officeart/2018/2/layout/IconCircleList"/>
    <dgm:cxn modelId="{4BB19978-96EA-4CEF-8130-C2C5646EA8E0}" type="presParOf" srcId="{1FDFDE99-390F-4F3F-AC34-67FDD6922737}" destId="{01A877B6-21B4-4205-A322-1AC798E63838}" srcOrd="5" destOrd="0" presId="urn:microsoft.com/office/officeart/2018/2/layout/IconCircleList"/>
    <dgm:cxn modelId="{D1560306-A713-4959-AC35-8D58F52186A8}" type="presParOf" srcId="{1FDFDE99-390F-4F3F-AC34-67FDD6922737}" destId="{005A6B28-6D93-414F-8B34-DE1D90C9F190}" srcOrd="6" destOrd="0" presId="urn:microsoft.com/office/officeart/2018/2/layout/IconCircleList"/>
    <dgm:cxn modelId="{74CAF1DB-F96B-4CA2-A63E-6BDF17B297C6}" type="presParOf" srcId="{005A6B28-6D93-414F-8B34-DE1D90C9F190}" destId="{EC9A0C34-19E3-4FEA-8CA3-7EC95B7D47DE}" srcOrd="0" destOrd="0" presId="urn:microsoft.com/office/officeart/2018/2/layout/IconCircleList"/>
    <dgm:cxn modelId="{99424629-E416-42D7-8E5D-71E8F662D43A}" type="presParOf" srcId="{005A6B28-6D93-414F-8B34-DE1D90C9F190}" destId="{F0C40844-3947-490A-9E00-E3826FA9CE65}" srcOrd="1" destOrd="0" presId="urn:microsoft.com/office/officeart/2018/2/layout/IconCircleList"/>
    <dgm:cxn modelId="{92A96527-5071-4248-B0F4-80C68ADAD4AE}" type="presParOf" srcId="{005A6B28-6D93-414F-8B34-DE1D90C9F190}" destId="{80C7C668-098D-444D-8956-9002E0313CF7}" srcOrd="2" destOrd="0" presId="urn:microsoft.com/office/officeart/2018/2/layout/IconCircleList"/>
    <dgm:cxn modelId="{8E52967C-983A-46C4-B43D-355D67E3F5BD}" type="presParOf" srcId="{005A6B28-6D93-414F-8B34-DE1D90C9F190}" destId="{EEC1D1D1-0C56-4F3A-B665-4931F90E837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DC80DB-1A34-4C4B-B387-68A396070864}">
      <dsp:nvSpPr>
        <dsp:cNvPr id="0" name=""/>
        <dsp:cNvSpPr/>
      </dsp:nvSpPr>
      <dsp:spPr>
        <a:xfrm>
          <a:off x="1811481" y="194557"/>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FCFC9D-E424-4D94-8FF3-0DA387F535EB}">
      <dsp:nvSpPr>
        <dsp:cNvPr id="0" name=""/>
        <dsp:cNvSpPr/>
      </dsp:nvSpPr>
      <dsp:spPr>
        <a:xfrm>
          <a:off x="623481" y="260884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This report has been prepared on the evaluation of the logistics warehouse dataset obtained from Kaggle </a:t>
          </a:r>
          <a:r>
            <a:rPr lang="en-US" sz="1100" kern="1200" dirty="0">
              <a:hlinkClick xmlns:r="http://schemas.openxmlformats.org/officeDocument/2006/relationships" r:id="rId2"/>
            </a:rPr>
            <a:t>https://</a:t>
          </a:r>
          <a:r>
            <a:rPr lang="en-US" sz="1100" kern="1200" dirty="0" err="1">
              <a:hlinkClick xmlns:r="http://schemas.openxmlformats.org/officeDocument/2006/relationships" r:id="rId2"/>
            </a:rPr>
            <a:t>www.kaggle.com</a:t>
          </a:r>
          <a:r>
            <a:rPr lang="en-US" sz="1100" kern="1200" dirty="0">
              <a:hlinkClick xmlns:r="http://schemas.openxmlformats.org/officeDocument/2006/relationships" r:id="rId2"/>
            </a:rPr>
            <a:t>/datasets/ziya07/logistics-warehouse-dataset</a:t>
          </a:r>
          <a:endParaRPr lang="en-US" sz="1100" kern="1200" dirty="0"/>
        </a:p>
      </dsp:txBody>
      <dsp:txXfrm>
        <a:off x="623481" y="2608849"/>
        <a:ext cx="4320000" cy="720000"/>
      </dsp:txXfrm>
    </dsp:sp>
    <dsp:sp modelId="{90465367-1292-4111-834F-72B1C8509A49}">
      <dsp:nvSpPr>
        <dsp:cNvPr id="0" name=""/>
        <dsp:cNvSpPr/>
      </dsp:nvSpPr>
      <dsp:spPr>
        <a:xfrm>
          <a:off x="6887481" y="194557"/>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67E32F-30AE-4371-A9FB-51003F36E1D6}">
      <dsp:nvSpPr>
        <dsp:cNvPr id="0" name=""/>
        <dsp:cNvSpPr/>
      </dsp:nvSpPr>
      <dsp:spPr>
        <a:xfrm>
          <a:off x="5699481" y="260884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It consists 3204 observations and 23 variables</a:t>
          </a:r>
        </a:p>
      </dsp:txBody>
      <dsp:txXfrm>
        <a:off x="5699481" y="2608849"/>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350B18-06F5-F648-9DF6-FD882A28F75F}">
      <dsp:nvSpPr>
        <dsp:cNvPr id="0" name=""/>
        <dsp:cNvSpPr/>
      </dsp:nvSpPr>
      <dsp:spPr>
        <a:xfrm>
          <a:off x="3201" y="445489"/>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Identifiers</a:t>
          </a:r>
        </a:p>
      </dsp:txBody>
      <dsp:txXfrm>
        <a:off x="3201" y="445489"/>
        <a:ext cx="2539866" cy="1523919"/>
      </dsp:txXfrm>
    </dsp:sp>
    <dsp:sp modelId="{CCFA24E9-B835-F94D-A42E-C9C93A6F4952}">
      <dsp:nvSpPr>
        <dsp:cNvPr id="0" name=""/>
        <dsp:cNvSpPr/>
      </dsp:nvSpPr>
      <dsp:spPr>
        <a:xfrm>
          <a:off x="2797054" y="445489"/>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Warehouse zone</a:t>
          </a:r>
        </a:p>
      </dsp:txBody>
      <dsp:txXfrm>
        <a:off x="2797054" y="445489"/>
        <a:ext cx="2539866" cy="1523919"/>
      </dsp:txXfrm>
    </dsp:sp>
    <dsp:sp modelId="{0A0A0B52-3001-3E4D-A5CF-03FBBAFC7C37}">
      <dsp:nvSpPr>
        <dsp:cNvPr id="0" name=""/>
        <dsp:cNvSpPr/>
      </dsp:nvSpPr>
      <dsp:spPr>
        <a:xfrm>
          <a:off x="5590907" y="445489"/>
          <a:ext cx="2539866" cy="1523919"/>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Inventory metrics</a:t>
          </a:r>
        </a:p>
      </dsp:txBody>
      <dsp:txXfrm>
        <a:off x="5590907" y="445489"/>
        <a:ext cx="2539866" cy="1523919"/>
      </dsp:txXfrm>
    </dsp:sp>
    <dsp:sp modelId="{326B100C-F9AE-6B49-9E8C-42F8F5801673}">
      <dsp:nvSpPr>
        <dsp:cNvPr id="0" name=""/>
        <dsp:cNvSpPr/>
      </dsp:nvSpPr>
      <dsp:spPr>
        <a:xfrm>
          <a:off x="8384760" y="445489"/>
          <a:ext cx="2539866" cy="1523919"/>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Reorder policy metrics</a:t>
          </a:r>
        </a:p>
      </dsp:txBody>
      <dsp:txXfrm>
        <a:off x="8384760" y="445489"/>
        <a:ext cx="2539866" cy="1523919"/>
      </dsp:txXfrm>
    </dsp:sp>
    <dsp:sp modelId="{2AB73CA9-84C2-814A-8497-9D33A7E4FEFA}">
      <dsp:nvSpPr>
        <dsp:cNvPr id="0" name=""/>
        <dsp:cNvSpPr/>
      </dsp:nvSpPr>
      <dsp:spPr>
        <a:xfrm>
          <a:off x="1400128" y="2223395"/>
          <a:ext cx="2539866" cy="1523919"/>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Lead time</a:t>
          </a:r>
        </a:p>
      </dsp:txBody>
      <dsp:txXfrm>
        <a:off x="1400128" y="2223395"/>
        <a:ext cx="2539866" cy="1523919"/>
      </dsp:txXfrm>
    </dsp:sp>
    <dsp:sp modelId="{1383EF63-B54D-4F4A-93AF-D4AF46F1218A}">
      <dsp:nvSpPr>
        <dsp:cNvPr id="0" name=""/>
        <dsp:cNvSpPr/>
      </dsp:nvSpPr>
      <dsp:spPr>
        <a:xfrm>
          <a:off x="4193981" y="2223395"/>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Demand measures</a:t>
          </a:r>
        </a:p>
      </dsp:txBody>
      <dsp:txXfrm>
        <a:off x="4193981" y="2223395"/>
        <a:ext cx="2539866" cy="1523919"/>
      </dsp:txXfrm>
    </dsp:sp>
    <dsp:sp modelId="{2F73B52F-7C73-EB4E-A6A1-23B289D5D50C}">
      <dsp:nvSpPr>
        <dsp:cNvPr id="0" name=""/>
        <dsp:cNvSpPr/>
      </dsp:nvSpPr>
      <dsp:spPr>
        <a:xfrm>
          <a:off x="6987834" y="2223395"/>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Operational KPIs</a:t>
          </a:r>
        </a:p>
      </dsp:txBody>
      <dsp:txXfrm>
        <a:off x="6987834" y="2223395"/>
        <a:ext cx="2539866" cy="15239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8C7E98-7F49-6845-AE23-85BD2ADAEA81}">
      <dsp:nvSpPr>
        <dsp:cNvPr id="0" name=""/>
        <dsp:cNvSpPr/>
      </dsp:nvSpPr>
      <dsp:spPr>
        <a:xfrm>
          <a:off x="2385152" y="-47604"/>
          <a:ext cx="4585801" cy="4585801"/>
        </a:xfrm>
        <a:prstGeom prst="circularArrow">
          <a:avLst>
            <a:gd name="adj1" fmla="val 5544"/>
            <a:gd name="adj2" fmla="val 330680"/>
            <a:gd name="adj3" fmla="val 14748009"/>
            <a:gd name="adj4" fmla="val 16818411"/>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68964-6817-3348-A7D7-3979BE3DE587}">
      <dsp:nvSpPr>
        <dsp:cNvPr id="0" name=""/>
        <dsp:cNvSpPr/>
      </dsp:nvSpPr>
      <dsp:spPr>
        <a:xfrm>
          <a:off x="4083017" y="2983"/>
          <a:ext cx="1190071" cy="59503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Stock level</a:t>
          </a:r>
        </a:p>
      </dsp:txBody>
      <dsp:txXfrm>
        <a:off x="4112064" y="32030"/>
        <a:ext cx="1131977" cy="536941"/>
      </dsp:txXfrm>
    </dsp:sp>
    <dsp:sp modelId="{95A8F928-8D2A-8E48-B227-22E9F8CCCAD4}">
      <dsp:nvSpPr>
        <dsp:cNvPr id="0" name=""/>
        <dsp:cNvSpPr/>
      </dsp:nvSpPr>
      <dsp:spPr>
        <a:xfrm>
          <a:off x="5340031" y="460499"/>
          <a:ext cx="1190071" cy="595035"/>
        </a:xfrm>
        <a:prstGeom prst="roundRect">
          <a:avLst/>
        </a:prstGeom>
        <a:solidFill>
          <a:schemeClr val="accent2">
            <a:hueOff val="805452"/>
            <a:satOff val="-2312"/>
            <a:lumOff val="-370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Reorder point</a:t>
          </a:r>
        </a:p>
      </dsp:txBody>
      <dsp:txXfrm>
        <a:off x="5369078" y="489546"/>
        <a:ext cx="1131977" cy="536941"/>
      </dsp:txXfrm>
    </dsp:sp>
    <dsp:sp modelId="{63C0FDE6-3EB3-C042-8D45-13E1EC048DE9}">
      <dsp:nvSpPr>
        <dsp:cNvPr id="0" name=""/>
        <dsp:cNvSpPr/>
      </dsp:nvSpPr>
      <dsp:spPr>
        <a:xfrm>
          <a:off x="6008874" y="1618969"/>
          <a:ext cx="1190071" cy="595035"/>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Daily demand</a:t>
          </a:r>
        </a:p>
      </dsp:txBody>
      <dsp:txXfrm>
        <a:off x="6037921" y="1648016"/>
        <a:ext cx="1131977" cy="536941"/>
      </dsp:txXfrm>
    </dsp:sp>
    <dsp:sp modelId="{C64E57FE-C342-AC47-923A-5F211C5FD498}">
      <dsp:nvSpPr>
        <dsp:cNvPr id="0" name=""/>
        <dsp:cNvSpPr/>
      </dsp:nvSpPr>
      <dsp:spPr>
        <a:xfrm>
          <a:off x="5776587" y="2936332"/>
          <a:ext cx="1190071" cy="595035"/>
        </a:xfrm>
        <a:prstGeom prst="roundRect">
          <a:avLst/>
        </a:prstGeom>
        <a:solidFill>
          <a:schemeClr val="accent2">
            <a:hueOff val="2416355"/>
            <a:satOff val="-6935"/>
            <a:lumOff val="-111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Zone</a:t>
          </a:r>
        </a:p>
      </dsp:txBody>
      <dsp:txXfrm>
        <a:off x="5805634" y="2965379"/>
        <a:ext cx="1131977" cy="536941"/>
      </dsp:txXfrm>
    </dsp:sp>
    <dsp:sp modelId="{42FA686A-8C46-D344-9960-45A683562645}">
      <dsp:nvSpPr>
        <dsp:cNvPr id="0" name=""/>
        <dsp:cNvSpPr/>
      </dsp:nvSpPr>
      <dsp:spPr>
        <a:xfrm>
          <a:off x="4751860" y="3796180"/>
          <a:ext cx="1190071" cy="595035"/>
        </a:xfrm>
        <a:prstGeom prst="round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Lead time days</a:t>
          </a:r>
        </a:p>
      </dsp:txBody>
      <dsp:txXfrm>
        <a:off x="4780907" y="3825227"/>
        <a:ext cx="1131977" cy="536941"/>
      </dsp:txXfrm>
    </dsp:sp>
    <dsp:sp modelId="{381B312B-7FBA-D54A-8704-F519F61FB4E0}">
      <dsp:nvSpPr>
        <dsp:cNvPr id="0" name=""/>
        <dsp:cNvSpPr/>
      </dsp:nvSpPr>
      <dsp:spPr>
        <a:xfrm>
          <a:off x="3414175" y="3796180"/>
          <a:ext cx="1190071" cy="595035"/>
        </a:xfrm>
        <a:prstGeom prst="roundRect">
          <a:avLst/>
        </a:prstGeom>
        <a:solidFill>
          <a:schemeClr val="accent2">
            <a:hueOff val="4027258"/>
            <a:satOff val="-11558"/>
            <a:lumOff val="-1850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Reorder frequency days</a:t>
          </a:r>
        </a:p>
      </dsp:txBody>
      <dsp:txXfrm>
        <a:off x="3443222" y="3825227"/>
        <a:ext cx="1131977" cy="536941"/>
      </dsp:txXfrm>
    </dsp:sp>
    <dsp:sp modelId="{F7FCFCB0-5930-2F4E-8D60-134E1E90319A}">
      <dsp:nvSpPr>
        <dsp:cNvPr id="0" name=""/>
        <dsp:cNvSpPr/>
      </dsp:nvSpPr>
      <dsp:spPr>
        <a:xfrm>
          <a:off x="2389448" y="2936332"/>
          <a:ext cx="1190071" cy="595035"/>
        </a:xfrm>
        <a:prstGeom prst="roundRect">
          <a:avLst/>
        </a:prstGeom>
        <a:solidFill>
          <a:schemeClr val="accent2">
            <a:hueOff val="4832709"/>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Demand st dev</a:t>
          </a:r>
        </a:p>
      </dsp:txBody>
      <dsp:txXfrm>
        <a:off x="2418495" y="2965379"/>
        <a:ext cx="1131977" cy="536941"/>
      </dsp:txXfrm>
    </dsp:sp>
    <dsp:sp modelId="{04C74085-7D6A-984D-9C12-B6E51B922F75}">
      <dsp:nvSpPr>
        <dsp:cNvPr id="0" name=""/>
        <dsp:cNvSpPr/>
      </dsp:nvSpPr>
      <dsp:spPr>
        <a:xfrm>
          <a:off x="2157161" y="1618969"/>
          <a:ext cx="1190071" cy="595035"/>
        </a:xfrm>
        <a:prstGeom prst="roundRect">
          <a:avLst/>
        </a:prstGeom>
        <a:solidFill>
          <a:schemeClr val="accent2">
            <a:hueOff val="5638161"/>
            <a:satOff val="-16181"/>
            <a:lumOff val="-2590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Stockout count last month</a:t>
          </a:r>
        </a:p>
      </dsp:txBody>
      <dsp:txXfrm>
        <a:off x="2186208" y="1648016"/>
        <a:ext cx="1131977" cy="536941"/>
      </dsp:txXfrm>
    </dsp:sp>
    <dsp:sp modelId="{81ADF848-D052-114C-B293-7A57DA002A08}">
      <dsp:nvSpPr>
        <dsp:cNvPr id="0" name=""/>
        <dsp:cNvSpPr/>
      </dsp:nvSpPr>
      <dsp:spPr>
        <a:xfrm>
          <a:off x="2826004" y="460499"/>
          <a:ext cx="1190071" cy="595035"/>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Order fulfillment rate</a:t>
          </a:r>
        </a:p>
      </dsp:txBody>
      <dsp:txXfrm>
        <a:off x="2855051" y="489546"/>
        <a:ext cx="1131977" cy="5369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4B529D-5A86-488B-A423-7E6DA0BF1AF3}">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45D635-C689-46D0-A723-8DD8DBBF91B7}">
      <dsp:nvSpPr>
        <dsp:cNvPr id="0" name=""/>
        <dsp:cNvSpPr/>
      </dsp:nvSpPr>
      <dsp:spPr>
        <a:xfrm>
          <a:off x="87109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D49CFB-4485-45EE-81B6-BDED7775A805}">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Snapshot in time</a:t>
          </a:r>
        </a:p>
      </dsp:txBody>
      <dsp:txXfrm>
        <a:off x="100682" y="2684598"/>
        <a:ext cx="2370489" cy="720000"/>
      </dsp:txXfrm>
    </dsp:sp>
    <dsp:sp modelId="{8EFEBEB1-84B8-4223-81B6-255480267813}">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564422-C1DF-49ED-AB5D-9BFDC3BB6071}">
      <dsp:nvSpPr>
        <dsp:cNvPr id="0" name=""/>
        <dsp:cNvSpPr/>
      </dsp:nvSpPr>
      <dsp:spPr>
        <a:xfrm>
          <a:off x="365641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5F6964-C3F2-4E31-8889-3F6A0F7426BA}">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Not a time series validation</a:t>
          </a:r>
        </a:p>
      </dsp:txBody>
      <dsp:txXfrm>
        <a:off x="2886007" y="2684598"/>
        <a:ext cx="2370489" cy="720000"/>
      </dsp:txXfrm>
    </dsp:sp>
    <dsp:sp modelId="{5FCDB2A5-4A8E-4E6A-8C8A-0ADC62F8FD1D}">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35F4E3-D75D-4FCB-92FF-A48A00B0A97E}">
      <dsp:nvSpPr>
        <dsp:cNvPr id="0" name=""/>
        <dsp:cNvSpPr/>
      </dsp:nvSpPr>
      <dsp:spPr>
        <a:xfrm>
          <a:off x="644174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898B9A-5955-4FB8-B1A8-BFBD36BE9561}">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Static inventory dynamics</a:t>
          </a:r>
        </a:p>
      </dsp:txBody>
      <dsp:txXfrm>
        <a:off x="5671332" y="2684598"/>
        <a:ext cx="2370489" cy="720000"/>
      </dsp:txXfrm>
    </dsp:sp>
    <dsp:sp modelId="{F6A030E1-1037-4AF1-8D27-2885BCECA265}">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53DF4D-56AF-4DDC-BA23-A9754CFC4C9D}">
      <dsp:nvSpPr>
        <dsp:cNvPr id="0" name=""/>
        <dsp:cNvSpPr/>
      </dsp:nvSpPr>
      <dsp:spPr>
        <a:xfrm>
          <a:off x="922706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F9DDCE-1279-42E7-B777-931CCC8C190C}">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Supplier lead time are not the causal drivers</a:t>
          </a:r>
        </a:p>
      </dsp:txBody>
      <dsp:txXfrm>
        <a:off x="8456657" y="2684598"/>
        <a:ext cx="2370489"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EB5245-D1D8-4A4B-B4FE-08DF884878F2}">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C6C2D4-5887-4B85-9FE2-482C653D2D3C}">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5F4993-27C5-43A1-B282-2BF4B963E42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CA" sz="2100" kern="1200"/>
            <a:t>reorder point settings do not reflect observed daily demand patterns in the dataset </a:t>
          </a:r>
          <a:endParaRPr lang="en-US" sz="2100" kern="1200"/>
        </a:p>
      </dsp:txBody>
      <dsp:txXfrm>
        <a:off x="1435590" y="531"/>
        <a:ext cx="9080009" cy="1242935"/>
      </dsp:txXfrm>
    </dsp:sp>
    <dsp:sp modelId="{4893440B-3B72-408B-9507-770ECADACC53}">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611643-1DA2-4588-80B1-BBED69910660}">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B52BCC-E5D5-495B-8031-18D906B32C77}">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CA" sz="2100" kern="1200"/>
            <a:t>Prioritize high-risk ones (Zones B and C) for replenishment policy checks and corrective action.</a:t>
          </a:r>
          <a:endParaRPr lang="en-US" sz="2100" kern="1200"/>
        </a:p>
      </dsp:txBody>
      <dsp:txXfrm>
        <a:off x="1435590" y="1554201"/>
        <a:ext cx="9080009" cy="1242935"/>
      </dsp:txXfrm>
    </dsp:sp>
    <dsp:sp modelId="{78174AF9-AAE6-42E4-BEB0-9834A677BC73}">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A3BE56-C76A-42CE-BCDF-232A7428033A}">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240995-BD9D-4FD5-B6CE-78E82996818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CA" sz="2100" kern="1200"/>
            <a:t>Implement regular inventory dashboards that track under-stocked items by zone and monitor alignment between stock levels and reorder thresholds.</a:t>
          </a:r>
          <a:endParaRPr lang="en-US" sz="2100" kern="1200"/>
        </a:p>
      </dsp:txBody>
      <dsp:txXfrm>
        <a:off x="1435590" y="3107870"/>
        <a:ext cx="9080009" cy="12429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7C42E-7AB1-48C0-B100-63F6A4EA454B}">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3CAB68-086F-46BA-844C-AD276370A69C}">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D728E6-59E5-4F89-B8F8-DA43E8937126}">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CA" sz="1100" kern="1200"/>
            <a:t>Data Science Process Alliance. (2024, December 9). </a:t>
          </a:r>
          <a:r>
            <a:rPr lang="en-CA" sz="1100" i="1" kern="1200"/>
            <a:t>What is CRISP-DM?</a:t>
          </a:r>
          <a:r>
            <a:rPr lang="en-CA" sz="1100" kern="1200"/>
            <a:t> https://www.datascience-pm.com/crisp-dm-2/</a:t>
          </a:r>
          <a:endParaRPr lang="en-US" sz="1100" kern="1200"/>
        </a:p>
      </dsp:txBody>
      <dsp:txXfrm>
        <a:off x="1834517" y="469890"/>
        <a:ext cx="3148942" cy="1335915"/>
      </dsp:txXfrm>
    </dsp:sp>
    <dsp:sp modelId="{F386DCE1-5C52-4D97-ABCC-8188661B4C48}">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FF9374-3553-400E-A86A-FB7C8343B160}">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C9A866-ACDD-4137-A68C-7388D68E68E6}">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CA" sz="1100" kern="1200"/>
            <a:t>Ziya07. (2025, July 29). </a:t>
          </a:r>
          <a:r>
            <a:rPr lang="en-CA" sz="1100" i="1" kern="1200"/>
            <a:t>Logistics warehouse dataset</a:t>
          </a:r>
          <a:r>
            <a:rPr lang="en-CA" sz="1100" kern="1200"/>
            <a:t> [Data set]. Kaggle. https://www.kaggle.com/datasets/ziya07/logistics-warehouse-dataset</a:t>
          </a:r>
          <a:endParaRPr lang="en-US" sz="1100" kern="1200"/>
        </a:p>
      </dsp:txBody>
      <dsp:txXfrm>
        <a:off x="7154322" y="469890"/>
        <a:ext cx="3148942" cy="1335915"/>
      </dsp:txXfrm>
    </dsp:sp>
    <dsp:sp modelId="{C1DD4607-DDC6-46EE-A217-38C125863021}">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0E9F4A-EB2A-48BB-8D8C-9C5229A26DAA}">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C61FE6-6237-4F6B-B3D0-4752A358FE50}">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CA" sz="1100" kern="1200"/>
            <a:t>Wickham, H. (2016). </a:t>
          </a:r>
          <a:r>
            <a:rPr lang="en-CA" sz="1100" i="1" kern="1200"/>
            <a:t>ggplot2: Elegant graphics for data analysis</a:t>
          </a:r>
          <a:r>
            <a:rPr lang="en-CA" sz="1100" kern="1200"/>
            <a:t>. Springer-Verlag New York. https://ggplot2.tidyverse.org</a:t>
          </a:r>
          <a:endParaRPr lang="en-US" sz="1100" kern="1200"/>
        </a:p>
      </dsp:txBody>
      <dsp:txXfrm>
        <a:off x="1834517" y="2545532"/>
        <a:ext cx="3148942" cy="1335915"/>
      </dsp:txXfrm>
    </dsp:sp>
    <dsp:sp modelId="{EC9A0C34-19E3-4FEA-8CA3-7EC95B7D47DE}">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C40844-3947-490A-9E00-E3826FA9CE65}">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C1D1D1-0C56-4F3A-B665-4931F90E8378}">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CA" sz="1100" kern="1200"/>
            <a:t>Wickham, H., François, R., Henry, L., Müller, K., &amp; Vaughan, D. (2026). </a:t>
          </a:r>
          <a:r>
            <a:rPr lang="en-CA" sz="1100" i="1" kern="1200"/>
            <a:t>dplyr: A grammar of data manipulation</a:t>
          </a:r>
          <a:r>
            <a:rPr lang="en-CA" sz="1100" kern="1200"/>
            <a:t> (R package version 1.2.1) [Computer software]. https://dplyr.tidyverse.org</a:t>
          </a:r>
          <a:endParaRPr lang="en-US" sz="1100" kern="1200"/>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F1EA-BA03-7B34-BE60-0CD9F697DE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422C1F-1700-6A98-F03E-921F0A74A9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54205C-ADDE-3464-5D6E-DFE1AF6FBB34}"/>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5" name="Footer Placeholder 4">
            <a:extLst>
              <a:ext uri="{FF2B5EF4-FFF2-40B4-BE49-F238E27FC236}">
                <a16:creationId xmlns:a16="http://schemas.microsoft.com/office/drawing/2014/main" id="{01F34730-CF94-8595-ED7D-9EF8CADAD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2C318-D2E2-D380-6441-9F4968BDDABE}"/>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1895769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48526-F1BF-08E7-40DB-02D7F7AEC6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E72CEA-68D0-0506-FCD0-2DAB571BDC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D80249-77B4-324A-F48F-1FAE7EA3A63B}"/>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5" name="Footer Placeholder 4">
            <a:extLst>
              <a:ext uri="{FF2B5EF4-FFF2-40B4-BE49-F238E27FC236}">
                <a16:creationId xmlns:a16="http://schemas.microsoft.com/office/drawing/2014/main" id="{1C439969-5646-A26F-4C4D-7EBF1451D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E251E-BABF-7152-4DFD-3ED22E8B6FCD}"/>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4045551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633F0-A69C-90ED-5357-7C32B280D2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1A0673-FB06-9963-5F91-8CDAA79055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C46839-4BCD-DF1E-C98F-99BCC04645A2}"/>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5" name="Footer Placeholder 4">
            <a:extLst>
              <a:ext uri="{FF2B5EF4-FFF2-40B4-BE49-F238E27FC236}">
                <a16:creationId xmlns:a16="http://schemas.microsoft.com/office/drawing/2014/main" id="{68DD13E8-D131-AA7E-9DC6-B252EC52B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10FD0-005B-BD35-BB9A-713BC869B785}"/>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522040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3BF2-2AD5-3838-F045-8599CEA705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040A87-9D9F-0FA0-C1E4-6262618903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793451-FC91-4C96-4099-55C6B16EF6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F5421B-B7AF-BEC7-B011-35241046069F}"/>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6" name="Footer Placeholder 5">
            <a:extLst>
              <a:ext uri="{FF2B5EF4-FFF2-40B4-BE49-F238E27FC236}">
                <a16:creationId xmlns:a16="http://schemas.microsoft.com/office/drawing/2014/main" id="{DCA8B740-103A-4226-BC3F-2E0257EC1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4B7E8-8184-E458-1214-67CDCD076D7A}"/>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2847824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9168-A8F8-E1E5-746B-4165CC373C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C095DA-3EAE-27DE-31E0-18E84B4B01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1DF358-8EBC-BAE7-6E58-A2CFE202DD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613686-F39D-6ED6-B17D-6D294FBE9A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FF34D9-6247-37EC-EF63-2653DD1078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7EE185-2295-D356-54DA-A7925E973657}"/>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8" name="Footer Placeholder 7">
            <a:extLst>
              <a:ext uri="{FF2B5EF4-FFF2-40B4-BE49-F238E27FC236}">
                <a16:creationId xmlns:a16="http://schemas.microsoft.com/office/drawing/2014/main" id="{70B82FA9-4BAB-9499-0AE9-0DF9C5D3F6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AF0E06-B34B-5E06-652D-74076991B27F}"/>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143692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F1DA-6FB2-7F10-9027-CE9D03E304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D57060-01A5-BB67-78A4-9B3D1F545225}"/>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4" name="Footer Placeholder 3">
            <a:extLst>
              <a:ext uri="{FF2B5EF4-FFF2-40B4-BE49-F238E27FC236}">
                <a16:creationId xmlns:a16="http://schemas.microsoft.com/office/drawing/2014/main" id="{B014D06C-8831-1740-91E1-20E033A75F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A8EFA6-5F42-1102-8F5E-2E3CA73DAE61}"/>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3809128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0C12C7-7A62-D8DD-ACD1-C560369BA727}"/>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3" name="Footer Placeholder 2">
            <a:extLst>
              <a:ext uri="{FF2B5EF4-FFF2-40B4-BE49-F238E27FC236}">
                <a16:creationId xmlns:a16="http://schemas.microsoft.com/office/drawing/2014/main" id="{570255C5-7936-A895-0E4F-A912D8C023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04917C-AA07-E1E4-7410-FBF69FC7BCD6}"/>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4104168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3973F-9EF8-1808-D1FA-29E55E5E34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42D208-A3C4-DF9A-0B2A-FAEE0062D2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D8B86E-693B-12E3-9732-BFF7945FA1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06CAEF-5005-235B-D48E-A1FD1BAF68D3}"/>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6" name="Footer Placeholder 5">
            <a:extLst>
              <a:ext uri="{FF2B5EF4-FFF2-40B4-BE49-F238E27FC236}">
                <a16:creationId xmlns:a16="http://schemas.microsoft.com/office/drawing/2014/main" id="{DBBD8B8C-50DD-7B84-750E-88DB64A7B7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2974B-A9EB-2245-FB7C-27ACC796B06B}"/>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2585712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07867-9F44-1D30-111D-C5A474289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586B78-E0F0-4497-F185-FDF692092D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C49C74-B6E4-D7D9-3118-39C45BE1D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8A9F83-C5E6-9BF8-6DEE-E57054A05C20}"/>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6" name="Footer Placeholder 5">
            <a:extLst>
              <a:ext uri="{FF2B5EF4-FFF2-40B4-BE49-F238E27FC236}">
                <a16:creationId xmlns:a16="http://schemas.microsoft.com/office/drawing/2014/main" id="{0BA15CBB-6812-2A9D-3A46-475323E0A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176E5A-92C7-5F75-F50D-B4A87570181B}"/>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1493728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8F406-3AA4-81ED-1980-8D49994961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BDB303-7479-C6DD-C8BC-0B75DCC852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97AF8E-D562-60FF-69B4-360DC95B2CA5}"/>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5" name="Footer Placeholder 4">
            <a:extLst>
              <a:ext uri="{FF2B5EF4-FFF2-40B4-BE49-F238E27FC236}">
                <a16:creationId xmlns:a16="http://schemas.microsoft.com/office/drawing/2014/main" id="{B8307907-DCAF-D3CB-E6DF-D54A7BC89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40AB6-6D41-E687-0521-AC3E5B51520F}"/>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3712050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8359C9-44DB-2C07-AC16-2F126FE37A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706901-7CE8-E88F-7531-6064F5013E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0B1917-18E7-63EE-A7C4-5B2594488823}"/>
              </a:ext>
            </a:extLst>
          </p:cNvPr>
          <p:cNvSpPr>
            <a:spLocks noGrp="1"/>
          </p:cNvSpPr>
          <p:nvPr>
            <p:ph type="dt" sz="half" idx="10"/>
          </p:nvPr>
        </p:nvSpPr>
        <p:spPr/>
        <p:txBody>
          <a:bodyPr/>
          <a:lstStyle/>
          <a:p>
            <a:fld id="{D0987919-8BBD-E24A-B6F7-C08B060BAF88}" type="datetimeFigureOut">
              <a:rPr lang="en-US" smtClean="0"/>
              <a:t>8/4/26</a:t>
            </a:fld>
            <a:endParaRPr lang="en-US"/>
          </a:p>
        </p:txBody>
      </p:sp>
      <p:sp>
        <p:nvSpPr>
          <p:cNvPr id="5" name="Footer Placeholder 4">
            <a:extLst>
              <a:ext uri="{FF2B5EF4-FFF2-40B4-BE49-F238E27FC236}">
                <a16:creationId xmlns:a16="http://schemas.microsoft.com/office/drawing/2014/main" id="{8EE734E5-0CE5-EC4F-0B64-3823BDA57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F2BE9B-A749-9C7D-99BA-811AE331C41E}"/>
              </a:ext>
            </a:extLst>
          </p:cNvPr>
          <p:cNvSpPr>
            <a:spLocks noGrp="1"/>
          </p:cNvSpPr>
          <p:nvPr>
            <p:ph type="sldNum" sz="quarter" idx="12"/>
          </p:nvPr>
        </p:nvSpPr>
        <p:spPr/>
        <p:txBody>
          <a:bodyPr/>
          <a:lstStyle/>
          <a:p>
            <a:fld id="{E1BFB491-3B0A-FF43-9C8F-15B245390545}" type="slidenum">
              <a:rPr lang="en-US" smtClean="0"/>
              <a:t>‹#›</a:t>
            </a:fld>
            <a:endParaRPr lang="en-US"/>
          </a:p>
        </p:txBody>
      </p:sp>
    </p:spTree>
    <p:extLst>
      <p:ext uri="{BB962C8B-B14F-4D97-AF65-F5344CB8AC3E}">
        <p14:creationId xmlns:p14="http://schemas.microsoft.com/office/powerpoint/2010/main" val="3168808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A6F0B-B52B-52A8-8207-ADD54902D7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1FDEA9-439E-B5A5-FAC6-3345FE95D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3984CD-1085-7A14-4F2C-042FFBC042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987919-8BBD-E24A-B6F7-C08B060BAF88}" type="datetimeFigureOut">
              <a:rPr lang="en-US" smtClean="0"/>
              <a:t>8/4/26</a:t>
            </a:fld>
            <a:endParaRPr lang="en-US"/>
          </a:p>
        </p:txBody>
      </p:sp>
      <p:sp>
        <p:nvSpPr>
          <p:cNvPr id="5" name="Footer Placeholder 4">
            <a:extLst>
              <a:ext uri="{FF2B5EF4-FFF2-40B4-BE49-F238E27FC236}">
                <a16:creationId xmlns:a16="http://schemas.microsoft.com/office/drawing/2014/main" id="{226F7E77-FA67-9B7C-63D7-11BB46170F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528741A-B12F-BBBE-9ACB-C772E1CDE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BFB491-3B0A-FF43-9C8F-15B245390545}" type="slidenum">
              <a:rPr lang="en-US" smtClean="0"/>
              <a:t>‹#›</a:t>
            </a:fld>
            <a:endParaRPr lang="en-US"/>
          </a:p>
        </p:txBody>
      </p:sp>
    </p:spTree>
    <p:extLst>
      <p:ext uri="{BB962C8B-B14F-4D97-AF65-F5344CB8AC3E}">
        <p14:creationId xmlns:p14="http://schemas.microsoft.com/office/powerpoint/2010/main" val="1203885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argo shipping containers in a pile and on a semi-truck at a harbor">
            <a:extLst>
              <a:ext uri="{FF2B5EF4-FFF2-40B4-BE49-F238E27FC236}">
                <a16:creationId xmlns:a16="http://schemas.microsoft.com/office/drawing/2014/main" id="{BB830398-C652-DAC4-E3DD-24384DE6A397}"/>
              </a:ext>
            </a:extLst>
          </p:cNvPr>
          <p:cNvPicPr>
            <a:picLocks noChangeAspect="1"/>
          </p:cNvPicPr>
          <p:nvPr/>
        </p:nvPicPr>
        <p:blipFill>
          <a:blip r:embed="rId2"/>
          <a:srcRect t="20348" b="4652"/>
          <a:stretch>
            <a:fillRect/>
          </a:stretch>
        </p:blipFill>
        <p:spPr>
          <a:xfrm>
            <a:off x="20" y="10"/>
            <a:ext cx="12191980" cy="6857990"/>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3934" y="1860919"/>
            <a:ext cx="4975280" cy="31086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177434-A130-EDA3-A058-56BD2B993233}"/>
              </a:ext>
            </a:extLst>
          </p:cNvPr>
          <p:cNvSpPr>
            <a:spLocks noGrp="1"/>
          </p:cNvSpPr>
          <p:nvPr>
            <p:ph type="ctrTitle"/>
          </p:nvPr>
        </p:nvSpPr>
        <p:spPr>
          <a:xfrm>
            <a:off x="2090528" y="2299176"/>
            <a:ext cx="4131368" cy="1571164"/>
          </a:xfrm>
        </p:spPr>
        <p:txBody>
          <a:bodyPr anchor="t">
            <a:normAutofit/>
          </a:bodyPr>
          <a:lstStyle/>
          <a:p>
            <a:pPr algn="l"/>
            <a:r>
              <a:rPr lang="en-US" sz="3600"/>
              <a:t>Logistics Warehouse Report</a:t>
            </a:r>
          </a:p>
        </p:txBody>
      </p:sp>
      <p:sp>
        <p:nvSpPr>
          <p:cNvPr id="3" name="Subtitle 2">
            <a:extLst>
              <a:ext uri="{FF2B5EF4-FFF2-40B4-BE49-F238E27FC236}">
                <a16:creationId xmlns:a16="http://schemas.microsoft.com/office/drawing/2014/main" id="{6869C26B-1267-E3D0-03CD-D0EC91E2B014}"/>
              </a:ext>
            </a:extLst>
          </p:cNvPr>
          <p:cNvSpPr>
            <a:spLocks noGrp="1"/>
          </p:cNvSpPr>
          <p:nvPr>
            <p:ph type="subTitle" idx="1"/>
          </p:nvPr>
        </p:nvSpPr>
        <p:spPr>
          <a:xfrm>
            <a:off x="2090529" y="4199213"/>
            <a:ext cx="4191938" cy="598548"/>
          </a:xfrm>
        </p:spPr>
        <p:txBody>
          <a:bodyPr anchor="ctr">
            <a:normAutofit/>
          </a:bodyPr>
          <a:lstStyle/>
          <a:p>
            <a:pPr algn="l"/>
            <a:r>
              <a:rPr lang="en-US" sz="1800"/>
              <a:t>Tatiana Ilunga – ANLC 754</a:t>
            </a:r>
          </a:p>
        </p:txBody>
      </p:sp>
      <p:cxnSp>
        <p:nvCxnSpPr>
          <p:cNvPr id="11" name="Straight Connector 10">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3170" y="403477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908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9B0A66-0228-26A1-4345-4F995BBE4D40}"/>
              </a:ext>
            </a:extLst>
          </p:cNvPr>
          <p:cNvSpPr>
            <a:spLocks noGrp="1"/>
          </p:cNvSpPr>
          <p:nvPr>
            <p:ph type="title"/>
          </p:nvPr>
        </p:nvSpPr>
        <p:spPr>
          <a:xfrm>
            <a:off x="1043631" y="809898"/>
            <a:ext cx="10173010" cy="1554480"/>
          </a:xfrm>
        </p:spPr>
        <p:txBody>
          <a:bodyPr anchor="ctr">
            <a:normAutofit/>
          </a:bodyPr>
          <a:lstStyle/>
          <a:p>
            <a:r>
              <a:rPr lang="en-US" sz="4800"/>
              <a:t>Introduction		</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28894EC-3A6F-717F-EFE7-9B7A2B47947F}"/>
              </a:ext>
            </a:extLst>
          </p:cNvPr>
          <p:cNvGraphicFramePr>
            <a:graphicFrameLocks noGrp="1"/>
          </p:cNvGraphicFramePr>
          <p:nvPr>
            <p:ph idx="1"/>
            <p:extLst>
              <p:ext uri="{D42A27DB-BD31-4B8C-83A1-F6EECF244321}">
                <p14:modId xmlns:p14="http://schemas.microsoft.com/office/powerpoint/2010/main" val="3874057293"/>
              </p:ext>
            </p:extLst>
          </p:nvPr>
        </p:nvGraphicFramePr>
        <p:xfrm>
          <a:off x="640079" y="2704014"/>
          <a:ext cx="10642963" cy="3523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8384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C0593A5-AE5B-23A7-7DCF-9BD8848EB3F0}"/>
              </a:ext>
            </a:extLst>
          </p:cNvPr>
          <p:cNvSpPr>
            <a:spLocks noGrp="1"/>
          </p:cNvSpPr>
          <p:nvPr>
            <p:ph type="title"/>
          </p:nvPr>
        </p:nvSpPr>
        <p:spPr>
          <a:xfrm>
            <a:off x="838200" y="365125"/>
            <a:ext cx="5393361" cy="1325563"/>
          </a:xfrm>
        </p:spPr>
        <p:txBody>
          <a:bodyPr>
            <a:normAutofit/>
          </a:bodyPr>
          <a:lstStyle/>
          <a:p>
            <a:r>
              <a:rPr lang="en-US"/>
              <a:t>Business Problem</a:t>
            </a:r>
          </a:p>
        </p:txBody>
      </p:sp>
      <p:sp>
        <p:nvSpPr>
          <p:cNvPr id="24" name="Freeform: Shape 23">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A4DE50ED-6F00-842B-B482-05D32E6E2DF2}"/>
              </a:ext>
            </a:extLst>
          </p:cNvPr>
          <p:cNvSpPr>
            <a:spLocks noGrp="1"/>
          </p:cNvSpPr>
          <p:nvPr>
            <p:ph idx="1"/>
          </p:nvPr>
        </p:nvSpPr>
        <p:spPr>
          <a:xfrm>
            <a:off x="838200" y="1825625"/>
            <a:ext cx="5393361" cy="4351338"/>
          </a:xfrm>
        </p:spPr>
        <p:txBody>
          <a:bodyPr>
            <a:normAutofit/>
          </a:bodyPr>
          <a:lstStyle/>
          <a:p>
            <a:pPr marL="0" indent="0">
              <a:buNone/>
            </a:pPr>
            <a:r>
              <a:rPr lang="en-CA" sz="2000"/>
              <a:t>Effective inventory management is essential for maintaining product availability while minimizing excess inventory and associated carrying costs. Organizations that rely on static or poorly aligned reorder policies risk stock shortages, inefficient warehouse operations, and reduced customer satisfaction. This project analyzes operational logistics data to evaluate whether current inventory practices reflect observed product demand and to identify opportunities for improving inventory replenishment decisions through data-driven analysis.</a:t>
            </a:r>
            <a:endParaRPr lang="en-US" sz="2000"/>
          </a:p>
        </p:txBody>
      </p:sp>
      <p:sp>
        <p:nvSpPr>
          <p:cNvPr id="26" name="Oval 2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x trolley">
            <a:extLst>
              <a:ext uri="{FF2B5EF4-FFF2-40B4-BE49-F238E27FC236}">
                <a16:creationId xmlns:a16="http://schemas.microsoft.com/office/drawing/2014/main" id="{AC20FE46-1209-450A-83F5-768613E8BD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8" name="Freeform: Shape 2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30" name="Straight Connector 2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657715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6A4C78-A771-42DB-6077-50E27B15195B}"/>
              </a:ext>
            </a:extLst>
          </p:cNvPr>
          <p:cNvSpPr>
            <a:spLocks noGrp="1"/>
          </p:cNvSpPr>
          <p:nvPr>
            <p:ph type="title"/>
          </p:nvPr>
        </p:nvSpPr>
        <p:spPr>
          <a:xfrm>
            <a:off x="1371597" y="348865"/>
            <a:ext cx="10044023" cy="877729"/>
          </a:xfrm>
        </p:spPr>
        <p:txBody>
          <a:bodyPr anchor="ctr">
            <a:normAutofit/>
          </a:bodyPr>
          <a:lstStyle/>
          <a:p>
            <a:r>
              <a:rPr lang="en-US" sz="2800">
                <a:solidFill>
                  <a:srgbClr val="FFFFFF"/>
                </a:solidFill>
              </a:rPr>
              <a:t>Observations</a:t>
            </a:r>
            <a:br>
              <a:rPr lang="en-US" sz="2800">
                <a:solidFill>
                  <a:srgbClr val="FFFFFF"/>
                </a:solidFill>
              </a:rPr>
            </a:br>
            <a:endParaRPr lang="en-US" sz="2800">
              <a:solidFill>
                <a:srgbClr val="FFFFFF"/>
              </a:solidFill>
            </a:endParaRPr>
          </a:p>
        </p:txBody>
      </p:sp>
      <p:graphicFrame>
        <p:nvGraphicFramePr>
          <p:cNvPr id="5" name="Content Placeholder 2">
            <a:extLst>
              <a:ext uri="{FF2B5EF4-FFF2-40B4-BE49-F238E27FC236}">
                <a16:creationId xmlns:a16="http://schemas.microsoft.com/office/drawing/2014/main" id="{531AFFD1-1902-D180-14F5-CDE42254FFD4}"/>
              </a:ext>
            </a:extLst>
          </p:cNvPr>
          <p:cNvGraphicFramePr>
            <a:graphicFrameLocks noGrp="1"/>
          </p:cNvGraphicFramePr>
          <p:nvPr>
            <p:ph idx="1"/>
            <p:extLst>
              <p:ext uri="{D42A27DB-BD31-4B8C-83A1-F6EECF244321}">
                <p14:modId xmlns:p14="http://schemas.microsoft.com/office/powerpoint/2010/main" val="294745598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5472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732A80-DA97-642B-DF00-3C262C0A0779}"/>
              </a:ext>
            </a:extLst>
          </p:cNvPr>
          <p:cNvSpPr>
            <a:spLocks noGrp="1"/>
          </p:cNvSpPr>
          <p:nvPr>
            <p:ph type="title"/>
          </p:nvPr>
        </p:nvSpPr>
        <p:spPr>
          <a:xfrm>
            <a:off x="1188069" y="381935"/>
            <a:ext cx="9356106" cy="1200329"/>
          </a:xfrm>
        </p:spPr>
        <p:txBody>
          <a:bodyPr anchor="t">
            <a:normAutofit/>
          </a:bodyPr>
          <a:lstStyle/>
          <a:p>
            <a:r>
              <a:rPr lang="en-US" sz="8000"/>
              <a:t>Variables</a:t>
            </a:r>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0E8E9AA-6F7E-6847-7EAA-44EBF975A8A9}"/>
              </a:ext>
            </a:extLst>
          </p:cNvPr>
          <p:cNvGraphicFramePr>
            <a:graphicFrameLocks noGrp="1"/>
          </p:cNvGraphicFramePr>
          <p:nvPr>
            <p:ph idx="1"/>
            <p:extLst>
              <p:ext uri="{D42A27DB-BD31-4B8C-83A1-F6EECF244321}">
                <p14:modId xmlns:p14="http://schemas.microsoft.com/office/powerpoint/2010/main" val="812217989"/>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08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091A70-B5CC-D0AC-3BA5-9C9024745EC9}"/>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Bias or Limitations</a:t>
            </a:r>
          </a:p>
        </p:txBody>
      </p:sp>
      <p:graphicFrame>
        <p:nvGraphicFramePr>
          <p:cNvPr id="5" name="Content Placeholder 2">
            <a:extLst>
              <a:ext uri="{FF2B5EF4-FFF2-40B4-BE49-F238E27FC236}">
                <a16:creationId xmlns:a16="http://schemas.microsoft.com/office/drawing/2014/main" id="{B2290FE1-BD2A-073D-08EF-B9137F0F4672}"/>
              </a:ext>
            </a:extLst>
          </p:cNvPr>
          <p:cNvGraphicFramePr>
            <a:graphicFrameLocks noGrp="1"/>
          </p:cNvGraphicFramePr>
          <p:nvPr>
            <p:ph idx="1"/>
            <p:extLst>
              <p:ext uri="{D42A27DB-BD31-4B8C-83A1-F6EECF244321}">
                <p14:modId xmlns:p14="http://schemas.microsoft.com/office/powerpoint/2010/main" val="175579699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6796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2EB0E2-0DE9-FDBC-6F35-A9895651E45F}"/>
              </a:ext>
            </a:extLst>
          </p:cNvPr>
          <p:cNvSpPr>
            <a:spLocks noGrp="1"/>
          </p:cNvSpPr>
          <p:nvPr>
            <p:ph type="title"/>
          </p:nvPr>
        </p:nvSpPr>
        <p:spPr>
          <a:xfrm>
            <a:off x="5596501" y="489508"/>
            <a:ext cx="5754896" cy="1667569"/>
          </a:xfrm>
        </p:spPr>
        <p:txBody>
          <a:bodyPr anchor="b">
            <a:normAutofit/>
          </a:bodyPr>
          <a:lstStyle/>
          <a:p>
            <a:r>
              <a:rPr lang="en-US" sz="4000"/>
              <a:t>Data Modeling &amp; Analysis</a:t>
            </a:r>
          </a:p>
        </p:txBody>
      </p:sp>
      <p:pic>
        <p:nvPicPr>
          <p:cNvPr id="7" name="Graphic 6" descr="Statistics">
            <a:extLst>
              <a:ext uri="{FF2B5EF4-FFF2-40B4-BE49-F238E27FC236}">
                <a16:creationId xmlns:a16="http://schemas.microsoft.com/office/drawing/2014/main" id="{3BC6139E-1C11-9E01-984B-BF8553EC47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8130" y="1275070"/>
            <a:ext cx="3876165" cy="3876165"/>
          </a:xfrm>
          <a:prstGeom prst="rect">
            <a:avLst/>
          </a:prstGeom>
        </p:spPr>
      </p:pic>
      <p:sp>
        <p:nvSpPr>
          <p:cNvPr id="3" name="Content Placeholder 2">
            <a:extLst>
              <a:ext uri="{FF2B5EF4-FFF2-40B4-BE49-F238E27FC236}">
                <a16:creationId xmlns:a16="http://schemas.microsoft.com/office/drawing/2014/main" id="{63885778-FE60-B51B-F1AE-C15B0AF43F19}"/>
              </a:ext>
            </a:extLst>
          </p:cNvPr>
          <p:cNvSpPr>
            <a:spLocks noGrp="1"/>
          </p:cNvSpPr>
          <p:nvPr>
            <p:ph idx="1"/>
          </p:nvPr>
        </p:nvSpPr>
        <p:spPr>
          <a:xfrm>
            <a:off x="5596502" y="2405894"/>
            <a:ext cx="5754896" cy="3197464"/>
          </a:xfrm>
        </p:spPr>
        <p:txBody>
          <a:bodyPr anchor="t">
            <a:normAutofit/>
          </a:bodyPr>
          <a:lstStyle/>
          <a:p>
            <a:r>
              <a:rPr lang="en-US" sz="2000" dirty="0"/>
              <a:t>Descriptive Analysis</a:t>
            </a:r>
          </a:p>
          <a:p>
            <a:pPr marL="0" indent="0">
              <a:buNone/>
            </a:pPr>
            <a:r>
              <a:rPr lang="en-US" sz="2000" dirty="0"/>
              <a:t>Daily demand by category</a:t>
            </a:r>
          </a:p>
          <a:p>
            <a:pPr marL="0" indent="0">
              <a:buNone/>
            </a:pPr>
            <a:endParaRPr lang="en-US" sz="2000" dirty="0"/>
          </a:p>
          <a:p>
            <a:r>
              <a:rPr lang="en-US" sz="2000" dirty="0"/>
              <a:t>Under-stock items by Zone</a:t>
            </a:r>
          </a:p>
          <a:p>
            <a:pPr marL="0" indent="0">
              <a:buNone/>
            </a:pPr>
            <a:r>
              <a:rPr lang="en-US" sz="2000" dirty="0"/>
              <a:t>Zone B and C are most understocked; however, each zone is understocked.</a:t>
            </a:r>
          </a:p>
        </p:txBody>
      </p:sp>
      <p:sp>
        <p:nvSpPr>
          <p:cNvPr id="19" name="Rectangle 18">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5C28D7D2-CBFE-21F7-846F-B2F985735C17}"/>
              </a:ext>
            </a:extLst>
          </p:cNvPr>
          <p:cNvGraphicFramePr>
            <a:graphicFrameLocks noGrp="1"/>
          </p:cNvGraphicFramePr>
          <p:nvPr>
            <p:extLst>
              <p:ext uri="{D42A27DB-BD31-4B8C-83A1-F6EECF244321}">
                <p14:modId xmlns:p14="http://schemas.microsoft.com/office/powerpoint/2010/main" val="383918766"/>
              </p:ext>
            </p:extLst>
          </p:nvPr>
        </p:nvGraphicFramePr>
        <p:xfrm>
          <a:off x="5414147" y="4834751"/>
          <a:ext cx="5937250" cy="316484"/>
        </p:xfrm>
        <a:graphic>
          <a:graphicData uri="http://schemas.openxmlformats.org/drawingml/2006/table">
            <a:tbl>
              <a:tblPr firstRow="1" firstCol="1" bandRow="1">
                <a:tableStyleId>{5C22544A-7EE6-4342-B048-85BDC9FD1C3A}</a:tableStyleId>
              </a:tblPr>
              <a:tblGrid>
                <a:gridCol w="1483995">
                  <a:extLst>
                    <a:ext uri="{9D8B030D-6E8A-4147-A177-3AD203B41FA5}">
                      <a16:colId xmlns:a16="http://schemas.microsoft.com/office/drawing/2014/main" val="1289609422"/>
                    </a:ext>
                  </a:extLst>
                </a:gridCol>
                <a:gridCol w="1483995">
                  <a:extLst>
                    <a:ext uri="{9D8B030D-6E8A-4147-A177-3AD203B41FA5}">
                      <a16:colId xmlns:a16="http://schemas.microsoft.com/office/drawing/2014/main" val="61308807"/>
                    </a:ext>
                  </a:extLst>
                </a:gridCol>
                <a:gridCol w="1484630">
                  <a:extLst>
                    <a:ext uri="{9D8B030D-6E8A-4147-A177-3AD203B41FA5}">
                      <a16:colId xmlns:a16="http://schemas.microsoft.com/office/drawing/2014/main" val="1969456625"/>
                    </a:ext>
                  </a:extLst>
                </a:gridCol>
                <a:gridCol w="1484630">
                  <a:extLst>
                    <a:ext uri="{9D8B030D-6E8A-4147-A177-3AD203B41FA5}">
                      <a16:colId xmlns:a16="http://schemas.microsoft.com/office/drawing/2014/main" val="2677704792"/>
                    </a:ext>
                  </a:extLst>
                </a:gridCol>
              </a:tblGrid>
              <a:tr h="0">
                <a:tc>
                  <a:txBody>
                    <a:bodyPr/>
                    <a:lstStyle/>
                    <a:p>
                      <a:pPr marL="85725" marR="85725" algn="l">
                        <a:lnSpc>
                          <a:spcPct val="200000"/>
                        </a:lnSpc>
                        <a:spcAft>
                          <a:spcPts val="800"/>
                        </a:spcAft>
                        <a:buNone/>
                      </a:pPr>
                      <a:r>
                        <a:rPr lang="en-CA" sz="1200" kern="100">
                          <a:effectLst/>
                        </a:rPr>
                        <a:t>Zone A: 59</a:t>
                      </a:r>
                      <a:endParaRPr lang="en-CA"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85725" marR="85725" algn="l">
                        <a:lnSpc>
                          <a:spcPct val="200000"/>
                        </a:lnSpc>
                        <a:spcAft>
                          <a:spcPts val="800"/>
                        </a:spcAft>
                        <a:buNone/>
                      </a:pPr>
                      <a:r>
                        <a:rPr lang="en-CA" sz="1200" kern="100">
                          <a:effectLst/>
                        </a:rPr>
                        <a:t>Zone B: 62</a:t>
                      </a:r>
                      <a:endParaRPr lang="en-CA"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85725" marR="85725" algn="l">
                        <a:lnSpc>
                          <a:spcPct val="200000"/>
                        </a:lnSpc>
                        <a:spcAft>
                          <a:spcPts val="800"/>
                        </a:spcAft>
                        <a:buNone/>
                      </a:pPr>
                      <a:r>
                        <a:rPr lang="en-CA" sz="1200" kern="100">
                          <a:effectLst/>
                        </a:rPr>
                        <a:t>Zone C: 60</a:t>
                      </a:r>
                      <a:endParaRPr lang="en-CA"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85725" marR="85725" algn="l">
                        <a:lnSpc>
                          <a:spcPct val="200000"/>
                        </a:lnSpc>
                        <a:spcAft>
                          <a:spcPts val="800"/>
                        </a:spcAft>
                        <a:buNone/>
                      </a:pPr>
                      <a:r>
                        <a:rPr lang="en-CA" sz="1200" kern="100" dirty="0">
                          <a:effectLst/>
                        </a:rPr>
                        <a:t>Zone D: 56</a:t>
                      </a:r>
                      <a:endParaRPr lang="en-C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8040245"/>
                  </a:ext>
                </a:extLst>
              </a:tr>
            </a:tbl>
          </a:graphicData>
        </a:graphic>
      </p:graphicFrame>
    </p:spTree>
    <p:extLst>
      <p:ext uri="{BB962C8B-B14F-4D97-AF65-F5344CB8AC3E}">
        <p14:creationId xmlns:p14="http://schemas.microsoft.com/office/powerpoint/2010/main" val="2884776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56B7D8-8F91-1690-1E84-FC2A10B491A0}"/>
              </a:ext>
            </a:extLst>
          </p:cNvPr>
          <p:cNvSpPr>
            <a:spLocks noGrp="1"/>
          </p:cNvSpPr>
          <p:nvPr>
            <p:ph type="title"/>
          </p:nvPr>
        </p:nvSpPr>
        <p:spPr>
          <a:xfrm>
            <a:off x="699715" y="288404"/>
            <a:ext cx="7170656" cy="977442"/>
          </a:xfrm>
        </p:spPr>
        <p:txBody>
          <a:bodyPr vert="horz" lIns="91440" tIns="45720" rIns="91440" bIns="45720" rtlCol="0" anchor="ctr">
            <a:normAutofit/>
          </a:bodyPr>
          <a:lstStyle/>
          <a:p>
            <a:r>
              <a:rPr lang="en-US" sz="4000">
                <a:solidFill>
                  <a:srgbClr val="FFFFFF"/>
                </a:solidFill>
              </a:rPr>
              <a:t>Visualizations	</a:t>
            </a:r>
          </a:p>
        </p:txBody>
      </p:sp>
      <p:pic>
        <p:nvPicPr>
          <p:cNvPr id="5" name="Content Placeholder 4">
            <a:extLst>
              <a:ext uri="{FF2B5EF4-FFF2-40B4-BE49-F238E27FC236}">
                <a16:creationId xmlns:a16="http://schemas.microsoft.com/office/drawing/2014/main" id="{548A2DC2-1ECA-D75B-3724-9A3A2261FB57}"/>
              </a:ext>
            </a:extLst>
          </p:cNvPr>
          <p:cNvPicPr>
            <a:picLocks noGrp="1" noChangeAspect="1"/>
          </p:cNvPicPr>
          <p:nvPr>
            <p:ph idx="1"/>
          </p:nvPr>
        </p:nvPicPr>
        <p:blipFill>
          <a:blip r:embed="rId2"/>
          <a:stretch>
            <a:fillRect/>
          </a:stretch>
        </p:blipFill>
        <p:spPr>
          <a:xfrm>
            <a:off x="902553" y="3054930"/>
            <a:ext cx="3238707" cy="2315674"/>
          </a:xfrm>
          <a:prstGeom prst="rect">
            <a:avLst/>
          </a:prstGeom>
        </p:spPr>
      </p:pic>
      <p:pic>
        <p:nvPicPr>
          <p:cNvPr id="9" name="Picture 8">
            <a:extLst>
              <a:ext uri="{FF2B5EF4-FFF2-40B4-BE49-F238E27FC236}">
                <a16:creationId xmlns:a16="http://schemas.microsoft.com/office/drawing/2014/main" id="{A302C74B-FF59-5526-6EA3-98C349EDD4A0}"/>
              </a:ext>
            </a:extLst>
          </p:cNvPr>
          <p:cNvPicPr>
            <a:picLocks noChangeAspect="1"/>
          </p:cNvPicPr>
          <p:nvPr/>
        </p:nvPicPr>
        <p:blipFill>
          <a:blip r:embed="rId3"/>
          <a:stretch>
            <a:fillRect/>
          </a:stretch>
        </p:blipFill>
        <p:spPr>
          <a:xfrm>
            <a:off x="4476646" y="3054930"/>
            <a:ext cx="3238707" cy="2315674"/>
          </a:xfrm>
          <a:prstGeom prst="rect">
            <a:avLst/>
          </a:prstGeom>
        </p:spPr>
      </p:pic>
      <p:pic>
        <p:nvPicPr>
          <p:cNvPr id="7" name="Picture 6">
            <a:extLst>
              <a:ext uri="{FF2B5EF4-FFF2-40B4-BE49-F238E27FC236}">
                <a16:creationId xmlns:a16="http://schemas.microsoft.com/office/drawing/2014/main" id="{698223B7-6E4D-1584-786C-F1845D47B3C1}"/>
              </a:ext>
            </a:extLst>
          </p:cNvPr>
          <p:cNvPicPr>
            <a:picLocks noChangeAspect="1"/>
          </p:cNvPicPr>
          <p:nvPr/>
        </p:nvPicPr>
        <p:blipFill>
          <a:blip r:embed="rId4"/>
          <a:stretch>
            <a:fillRect/>
          </a:stretch>
        </p:blipFill>
        <p:spPr>
          <a:xfrm>
            <a:off x="8050740" y="3054930"/>
            <a:ext cx="3238707" cy="2315674"/>
          </a:xfrm>
          <a:prstGeom prst="rect">
            <a:avLst/>
          </a:prstGeom>
        </p:spPr>
      </p:pic>
    </p:spTree>
    <p:extLst>
      <p:ext uri="{BB962C8B-B14F-4D97-AF65-F5344CB8AC3E}">
        <p14:creationId xmlns:p14="http://schemas.microsoft.com/office/powerpoint/2010/main" val="2503923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BD37C25-05D3-7DDC-052D-2E8C70E949AB}"/>
              </a:ext>
            </a:extLst>
          </p:cNvPr>
          <p:cNvSpPr>
            <a:spLocks noGrp="1"/>
          </p:cNvSpPr>
          <p:nvPr>
            <p:ph type="title"/>
          </p:nvPr>
        </p:nvSpPr>
        <p:spPr>
          <a:xfrm>
            <a:off x="761802" y="762001"/>
            <a:ext cx="4080362" cy="1708242"/>
          </a:xfrm>
        </p:spPr>
        <p:txBody>
          <a:bodyPr anchor="ctr">
            <a:normAutofit/>
          </a:bodyPr>
          <a:lstStyle/>
          <a:p>
            <a:r>
              <a:rPr lang="en-US" sz="4000" dirty="0"/>
              <a:t>Correlation Analysis</a:t>
            </a:r>
          </a:p>
        </p:txBody>
      </p:sp>
      <p:sp>
        <p:nvSpPr>
          <p:cNvPr id="3" name="Content Placeholder 2">
            <a:extLst>
              <a:ext uri="{FF2B5EF4-FFF2-40B4-BE49-F238E27FC236}">
                <a16:creationId xmlns:a16="http://schemas.microsoft.com/office/drawing/2014/main" id="{3F2DF7CE-8585-F55E-553D-9BE11CC1F0BF}"/>
              </a:ext>
            </a:extLst>
          </p:cNvPr>
          <p:cNvSpPr>
            <a:spLocks noGrp="1"/>
          </p:cNvSpPr>
          <p:nvPr>
            <p:ph idx="1"/>
          </p:nvPr>
        </p:nvSpPr>
        <p:spPr>
          <a:xfrm>
            <a:off x="761803" y="2470244"/>
            <a:ext cx="4080361" cy="3769834"/>
          </a:xfrm>
        </p:spPr>
        <p:txBody>
          <a:bodyPr anchor="ctr">
            <a:normAutofit/>
          </a:bodyPr>
          <a:lstStyle/>
          <a:p>
            <a:pPr lvl="0"/>
            <a:r>
              <a:rPr lang="en-CA" sz="2000" b="1" dirty="0"/>
              <a:t>Correlation (r):</a:t>
            </a:r>
            <a:r>
              <a:rPr lang="en-CA" sz="2000" dirty="0"/>
              <a:t> approximately </a:t>
            </a:r>
            <a:r>
              <a:rPr lang="en-CA" sz="2000" b="1" dirty="0"/>
              <a:t>-0.0139</a:t>
            </a:r>
            <a:endParaRPr lang="en-CA" sz="2000" dirty="0"/>
          </a:p>
          <a:p>
            <a:pPr lvl="0"/>
            <a:r>
              <a:rPr lang="en-CA" sz="2000" b="1" dirty="0"/>
              <a:t>p-value:</a:t>
            </a:r>
            <a:r>
              <a:rPr lang="en-CA" sz="2000" dirty="0"/>
              <a:t> </a:t>
            </a:r>
            <a:r>
              <a:rPr lang="en-CA" sz="2000" b="1" dirty="0"/>
              <a:t>0.4321</a:t>
            </a:r>
            <a:endParaRPr lang="en-CA" sz="2000" dirty="0"/>
          </a:p>
          <a:p>
            <a:pPr marL="0" indent="0">
              <a:buNone/>
            </a:pPr>
            <a:r>
              <a:rPr lang="en-CA" sz="2000" dirty="0"/>
              <a:t>A Pearson correlation test was run to evaluate whether </a:t>
            </a:r>
            <a:r>
              <a:rPr lang="en-CA" sz="2000" b="1"/>
              <a:t>daily_demand</a:t>
            </a:r>
            <a:r>
              <a:rPr lang="en-CA" sz="2000" dirty="0"/>
              <a:t> is linearly associated with </a:t>
            </a:r>
            <a:r>
              <a:rPr lang="en-CA" sz="2000" b="1"/>
              <a:t>reorder_point</a:t>
            </a:r>
            <a:r>
              <a:rPr lang="en-CA" sz="2000" dirty="0"/>
              <a:t>.</a:t>
            </a:r>
          </a:p>
          <a:p>
            <a:endParaRPr lang="en-US" sz="2000" dirty="0"/>
          </a:p>
        </p:txBody>
      </p:sp>
      <p:sp>
        <p:nvSpPr>
          <p:cNvPr id="18" name="Rectangle 17">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82E81373-C3AC-1851-549E-A0A1414B7560}"/>
              </a:ext>
            </a:extLst>
          </p:cNvPr>
          <p:cNvPicPr>
            <a:picLocks noChangeAspect="1"/>
          </p:cNvPicPr>
          <p:nvPr/>
        </p:nvPicPr>
        <p:blipFill>
          <a:blip r:embed="rId2"/>
          <a:srcRect l="5018" r="35581" b="-2"/>
          <a:stretch>
            <a:fillRect/>
          </a:stretch>
        </p:blipFill>
        <p:spPr>
          <a:xfrm>
            <a:off x="6367962" y="737488"/>
            <a:ext cx="4790273" cy="5383025"/>
          </a:xfrm>
          <a:prstGeom prst="rect">
            <a:avLst/>
          </a:prstGeom>
        </p:spPr>
      </p:pic>
    </p:spTree>
    <p:extLst>
      <p:ext uri="{BB962C8B-B14F-4D97-AF65-F5344CB8AC3E}">
        <p14:creationId xmlns:p14="http://schemas.microsoft.com/office/powerpoint/2010/main" val="2124658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B9CD-21A1-F8F1-AAA7-8DC414D5C4BA}"/>
              </a:ext>
            </a:extLst>
          </p:cNvPr>
          <p:cNvSpPr>
            <a:spLocks noGrp="1"/>
          </p:cNvSpPr>
          <p:nvPr>
            <p:ph type="title"/>
          </p:nvPr>
        </p:nvSpPr>
        <p:spPr/>
        <p:txBody>
          <a:bodyPr/>
          <a:lstStyle/>
          <a:p>
            <a:r>
              <a:rPr lang="en-US" dirty="0"/>
              <a:t>Regression Analysis</a:t>
            </a:r>
          </a:p>
        </p:txBody>
      </p:sp>
      <p:pic>
        <p:nvPicPr>
          <p:cNvPr id="5" name="Content Placeholder 4">
            <a:extLst>
              <a:ext uri="{FF2B5EF4-FFF2-40B4-BE49-F238E27FC236}">
                <a16:creationId xmlns:a16="http://schemas.microsoft.com/office/drawing/2014/main" id="{E44BD1D5-1C95-09BB-07E4-E4F0A6F95C92}"/>
              </a:ext>
            </a:extLst>
          </p:cNvPr>
          <p:cNvPicPr>
            <a:picLocks noGrp="1" noChangeAspect="1"/>
          </p:cNvPicPr>
          <p:nvPr>
            <p:ph idx="1"/>
          </p:nvPr>
        </p:nvPicPr>
        <p:blipFill>
          <a:blip r:embed="rId2"/>
          <a:stretch>
            <a:fillRect/>
          </a:stretch>
        </p:blipFill>
        <p:spPr>
          <a:xfrm>
            <a:off x="3896937" y="1575104"/>
            <a:ext cx="4398126" cy="4351338"/>
          </a:xfrm>
          <a:prstGeom prst="rect">
            <a:avLst/>
          </a:prstGeom>
        </p:spPr>
      </p:pic>
      <p:sp>
        <p:nvSpPr>
          <p:cNvPr id="7" name="TextBox 6">
            <a:extLst>
              <a:ext uri="{FF2B5EF4-FFF2-40B4-BE49-F238E27FC236}">
                <a16:creationId xmlns:a16="http://schemas.microsoft.com/office/drawing/2014/main" id="{3927B9F7-CE6D-63CB-D44B-BAB06EDA28CA}"/>
              </a:ext>
            </a:extLst>
          </p:cNvPr>
          <p:cNvSpPr txBox="1"/>
          <p:nvPr/>
        </p:nvSpPr>
        <p:spPr>
          <a:xfrm>
            <a:off x="2083496" y="6176963"/>
            <a:ext cx="6096000" cy="410497"/>
          </a:xfrm>
          <a:prstGeom prst="rect">
            <a:avLst/>
          </a:prstGeom>
          <a:noFill/>
        </p:spPr>
        <p:txBody>
          <a:bodyPr wrap="square">
            <a:spAutoFit/>
          </a:bodyPr>
          <a:lstStyle/>
          <a:p>
            <a:pPr>
              <a:lnSpc>
                <a:spcPct val="200000"/>
              </a:lnSpc>
              <a:spcAft>
                <a:spcPts val="800"/>
              </a:spcAft>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Interpretation: changes in daily demand do not meaningfully predict changes in reorder points.</a:t>
            </a:r>
            <a:endParaRPr lang="en-CA"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71271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911FE-9A79-43B7-F89B-3F74761BCF98}"/>
              </a:ext>
            </a:extLst>
          </p:cNvPr>
          <p:cNvSpPr>
            <a:spLocks noGrp="1"/>
          </p:cNvSpPr>
          <p:nvPr>
            <p:ph type="title"/>
          </p:nvPr>
        </p:nvSpPr>
        <p:spPr/>
        <p:txBody>
          <a:bodyPr/>
          <a:lstStyle/>
          <a:p>
            <a:r>
              <a:rPr lang="en-US" dirty="0"/>
              <a:t>Key Takeaways</a:t>
            </a:r>
          </a:p>
        </p:txBody>
      </p:sp>
      <p:graphicFrame>
        <p:nvGraphicFramePr>
          <p:cNvPr id="5" name="Content Placeholder 2">
            <a:extLst>
              <a:ext uri="{FF2B5EF4-FFF2-40B4-BE49-F238E27FC236}">
                <a16:creationId xmlns:a16="http://schemas.microsoft.com/office/drawing/2014/main" id="{988AEBED-865B-55DA-2347-AD8A89FFDCF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4518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18BA7-EE4C-93BB-D70F-2C33831D1AEC}"/>
              </a:ext>
            </a:extLst>
          </p:cNvPr>
          <p:cNvSpPr>
            <a:spLocks noGrp="1"/>
          </p:cNvSpPr>
          <p:nvPr>
            <p:ph type="title"/>
          </p:nvPr>
        </p:nvSpPr>
        <p:spPr/>
        <p:txBody>
          <a:bodyPr/>
          <a:lstStyle/>
          <a:p>
            <a:r>
              <a:rPr lang="en-US" dirty="0"/>
              <a:t>References</a:t>
            </a:r>
          </a:p>
        </p:txBody>
      </p:sp>
      <p:graphicFrame>
        <p:nvGraphicFramePr>
          <p:cNvPr id="7" name="Content Placeholder 2">
            <a:extLst>
              <a:ext uri="{FF2B5EF4-FFF2-40B4-BE49-F238E27FC236}">
                <a16:creationId xmlns:a16="http://schemas.microsoft.com/office/drawing/2014/main" id="{AD422E61-1475-460E-228C-8DD7F054699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6688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TotalTime>
  <Words>459</Words>
  <Application>Microsoft Macintosh PowerPoint</Application>
  <PresentationFormat>Widescreen</PresentationFormat>
  <Paragraphs>56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Times New Roman</vt:lpstr>
      <vt:lpstr>Office Theme</vt:lpstr>
      <vt:lpstr>Logistics Warehouse Report</vt:lpstr>
      <vt:lpstr>Introduction  </vt:lpstr>
      <vt:lpstr>Business Problem</vt:lpstr>
      <vt:lpstr>Observations </vt:lpstr>
      <vt:lpstr>Variables</vt:lpstr>
      <vt:lpstr>Bias or Limitations</vt:lpstr>
      <vt:lpstr>Data Modeling &amp; Analysis</vt:lpstr>
      <vt:lpstr>Visualizations </vt:lpstr>
      <vt:lpstr>Correlation Analysis</vt:lpstr>
      <vt:lpstr>Regression Analysis</vt:lpstr>
      <vt:lpstr>Key Takeaways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tatiana ilunga</dc:creator>
  <cp:lastModifiedBy>tatiana ilunga</cp:lastModifiedBy>
  <cp:revision>1</cp:revision>
  <dcterms:created xsi:type="dcterms:W3CDTF">2026-08-04T17:28:24Z</dcterms:created>
  <dcterms:modified xsi:type="dcterms:W3CDTF">2026-08-05T00:23:48Z</dcterms:modified>
</cp:coreProperties>
</file>